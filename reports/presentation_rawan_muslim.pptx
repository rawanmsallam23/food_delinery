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58" autoAdjust="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5891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افتتاحية: هذا المشروع يحلل بيانات أسبوعية مجهولة الهوية لشركة توصيل وجبات. ندرس كيف يتغير الطلب بين الأسابيع والفئات والوجبات ومراكز التجهيز، ونفحص ارتباط الطلب بالعروض والخصومات، بهدف دعم تخطيط المخزون والتسويق. الهدف هو تحويل النتائج إلى خطوات قابلة للاختبار، لا الادعاء بأن البيانات تثبت سبب تغير الطلب. الأرقام مأخوذة من خلايا الدفتر 2 و6.</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قدّم المشكلة قبل الأرقام: وصف الشركة في المشروع يذكر الهدر والنفاد، لكن ملفاتنا لا تتضمن قياسات مباشرة لهما. لذلك نحلل الطلب المسجل كمؤشر تشغيلي محدود. اشرح ترتيب الدفتر: تحميل البيانات والتحقق، التنظيف، الربط، المؤشرات، ثم أسئلة العمل الستة. الخلايا المرجعية: 1–2.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اشرح أن train يحتوي الهدف num_orders، بينما test لا يحتويه ويغطي أسابيع لاحقة. تم فحص فرادة مفاتيح المركز والوجبة ومفتاح الأسبوع/المركز/الوجبة. بعد دمج جداول الأبعاد، بقي عدد الصفوف وإجمالي الطلب ثابتين. لا تعني السلسلة غير المكتملة أن الطلب صفر، ولم تُحذف القيم الشاذة تلقائيًا. سجل كل قرار وسببه في docs/cleaning_decisions.csv. الخلايا 2–5.</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عرّف</a:t>
            </a:r>
            <a:r>
              <a:rPr dirty="0"/>
              <a:t> </a:t>
            </a:r>
            <a:r>
              <a:rPr dirty="0" err="1"/>
              <a:t>المقاييس</a:t>
            </a:r>
            <a:r>
              <a:rPr dirty="0"/>
              <a:t> </a:t>
            </a:r>
            <a:r>
              <a:rPr dirty="0" err="1"/>
              <a:t>كي</a:t>
            </a:r>
            <a:r>
              <a:rPr dirty="0"/>
              <a:t> </a:t>
            </a:r>
            <a:r>
              <a:rPr dirty="0" err="1"/>
              <a:t>لا</a:t>
            </a:r>
            <a:r>
              <a:rPr dirty="0"/>
              <a:t> </a:t>
            </a:r>
            <a:r>
              <a:rPr dirty="0" err="1"/>
              <a:t>تختلط</a:t>
            </a:r>
            <a:r>
              <a:rPr dirty="0"/>
              <a:t> </a:t>
            </a:r>
            <a:r>
              <a:rPr dirty="0" err="1"/>
              <a:t>على</a:t>
            </a:r>
            <a:r>
              <a:rPr dirty="0"/>
              <a:t> </a:t>
            </a:r>
            <a:r>
              <a:rPr dirty="0" err="1"/>
              <a:t>الجمهور</a:t>
            </a:r>
            <a:r>
              <a:rPr dirty="0"/>
              <a:t>: </a:t>
            </a:r>
            <a:r>
              <a:rPr dirty="0" err="1"/>
              <a:t>إجمالي</a:t>
            </a:r>
            <a:r>
              <a:rPr dirty="0"/>
              <a:t> </a:t>
            </a:r>
            <a:r>
              <a:rPr dirty="0" err="1"/>
              <a:t>الطلبات</a:t>
            </a:r>
            <a:r>
              <a:rPr dirty="0"/>
              <a:t> </a:t>
            </a:r>
            <a:r>
              <a:rPr dirty="0" err="1"/>
              <a:t>هو</a:t>
            </a:r>
            <a:r>
              <a:rPr dirty="0"/>
              <a:t> </a:t>
            </a:r>
            <a:r>
              <a:rPr dirty="0" err="1"/>
              <a:t>مجموع</a:t>
            </a:r>
            <a:r>
              <a:rPr dirty="0"/>
              <a:t> </a:t>
            </a:r>
            <a:r>
              <a:rPr dirty="0" err="1"/>
              <a:t>num_orders</a:t>
            </a:r>
            <a:r>
              <a:rPr dirty="0"/>
              <a:t>، </a:t>
            </a:r>
            <a:r>
              <a:rPr dirty="0" err="1"/>
              <a:t>ومتوسط</a:t>
            </a:r>
            <a:r>
              <a:rPr dirty="0"/>
              <a:t> </a:t>
            </a:r>
            <a:r>
              <a:rPr dirty="0" err="1"/>
              <a:t>الأسبوع</a:t>
            </a:r>
            <a:r>
              <a:rPr dirty="0"/>
              <a:t> </a:t>
            </a:r>
            <a:r>
              <a:rPr dirty="0" err="1"/>
              <a:t>هو</a:t>
            </a:r>
            <a:r>
              <a:rPr dirty="0"/>
              <a:t> </a:t>
            </a:r>
            <a:r>
              <a:rPr dirty="0" err="1"/>
              <a:t>متوسط</a:t>
            </a:r>
            <a:r>
              <a:rPr dirty="0"/>
              <a:t> </a:t>
            </a:r>
            <a:r>
              <a:rPr dirty="0" err="1"/>
              <a:t>المجاميع</a:t>
            </a:r>
            <a:r>
              <a:rPr dirty="0"/>
              <a:t> </a:t>
            </a:r>
            <a:r>
              <a:rPr dirty="0" err="1"/>
              <a:t>الأسبوعية</a:t>
            </a:r>
            <a:r>
              <a:rPr dirty="0"/>
              <a:t>. </a:t>
            </a:r>
            <a:r>
              <a:rPr dirty="0" err="1"/>
              <a:t>الإيراد</a:t>
            </a:r>
            <a:r>
              <a:rPr dirty="0"/>
              <a:t> </a:t>
            </a:r>
            <a:r>
              <a:rPr dirty="0" err="1"/>
              <a:t>التقديري</a:t>
            </a:r>
            <a:r>
              <a:rPr dirty="0"/>
              <a:t> </a:t>
            </a:r>
            <a:r>
              <a:rPr dirty="0" err="1"/>
              <a:t>حاصل</a:t>
            </a:r>
            <a:r>
              <a:rPr dirty="0"/>
              <a:t> </a:t>
            </a:r>
            <a:r>
              <a:rPr dirty="0" err="1"/>
              <a:t>ضرب</a:t>
            </a:r>
            <a:r>
              <a:rPr dirty="0"/>
              <a:t> </a:t>
            </a:r>
            <a:r>
              <a:rPr dirty="0" err="1"/>
              <a:t>checkout_price</a:t>
            </a:r>
            <a:r>
              <a:rPr dirty="0"/>
              <a:t> </a:t>
            </a:r>
            <a:r>
              <a:rPr dirty="0" err="1"/>
              <a:t>في</a:t>
            </a:r>
            <a:r>
              <a:rPr dirty="0"/>
              <a:t> </a:t>
            </a:r>
            <a:r>
              <a:rPr dirty="0" err="1"/>
              <a:t>الطلب</a:t>
            </a:r>
            <a:r>
              <a:rPr dirty="0"/>
              <a:t>، </a:t>
            </a:r>
            <a:r>
              <a:rPr dirty="0" err="1"/>
              <a:t>ولا</a:t>
            </a:r>
            <a:r>
              <a:rPr dirty="0"/>
              <a:t> </a:t>
            </a:r>
            <a:r>
              <a:rPr dirty="0" err="1"/>
              <a:t>يمثل</a:t>
            </a:r>
            <a:r>
              <a:rPr dirty="0"/>
              <a:t> </a:t>
            </a:r>
            <a:r>
              <a:rPr dirty="0" err="1"/>
              <a:t>الربح</a:t>
            </a:r>
            <a:r>
              <a:rPr dirty="0"/>
              <a:t>. </a:t>
            </a:r>
            <a:r>
              <a:rPr dirty="0" err="1"/>
              <a:t>نسبة</a:t>
            </a:r>
            <a:r>
              <a:rPr dirty="0"/>
              <a:t> </a:t>
            </a:r>
            <a:r>
              <a:rPr dirty="0" err="1"/>
              <a:t>الخصم</a:t>
            </a:r>
            <a:r>
              <a:rPr dirty="0"/>
              <a:t> </a:t>
            </a:r>
            <a:r>
              <a:rPr dirty="0" err="1"/>
              <a:t>مشتقة</a:t>
            </a:r>
            <a:r>
              <a:rPr dirty="0"/>
              <a:t> </a:t>
            </a:r>
            <a:r>
              <a:rPr dirty="0" err="1"/>
              <a:t>من</a:t>
            </a:r>
            <a:r>
              <a:rPr dirty="0"/>
              <a:t> </a:t>
            </a:r>
            <a:r>
              <a:rPr dirty="0" err="1"/>
              <a:t>base_price</a:t>
            </a:r>
            <a:r>
              <a:rPr dirty="0"/>
              <a:t> </a:t>
            </a:r>
            <a:r>
              <a:rPr dirty="0" err="1"/>
              <a:t>وcheckout_price</a:t>
            </a:r>
            <a:r>
              <a:rPr dirty="0"/>
              <a:t>؛ </a:t>
            </a:r>
            <a:r>
              <a:rPr dirty="0" err="1"/>
              <a:t>قد</a:t>
            </a:r>
            <a:r>
              <a:rPr dirty="0"/>
              <a:t> </a:t>
            </a:r>
            <a:r>
              <a:rPr dirty="0" err="1"/>
              <a:t>تصبح</a:t>
            </a:r>
            <a:r>
              <a:rPr dirty="0"/>
              <a:t> </a:t>
            </a:r>
            <a:r>
              <a:rPr dirty="0" err="1"/>
              <a:t>سالبة</a:t>
            </a:r>
            <a:r>
              <a:rPr dirty="0"/>
              <a:t> </a:t>
            </a:r>
            <a:r>
              <a:rPr dirty="0" err="1"/>
              <a:t>عندما</a:t>
            </a:r>
            <a:r>
              <a:rPr dirty="0"/>
              <a:t> </a:t>
            </a:r>
            <a:r>
              <a:rPr dirty="0" err="1"/>
              <a:t>يتجاوز</a:t>
            </a:r>
            <a:r>
              <a:rPr dirty="0"/>
              <a:t> </a:t>
            </a:r>
            <a:r>
              <a:rPr dirty="0" err="1"/>
              <a:t>سعر</a:t>
            </a:r>
            <a:r>
              <a:rPr dirty="0"/>
              <a:t> </a:t>
            </a:r>
            <a:r>
              <a:rPr dirty="0" err="1"/>
              <a:t>البيع</a:t>
            </a:r>
            <a:r>
              <a:rPr dirty="0"/>
              <a:t> </a:t>
            </a:r>
            <a:r>
              <a:rPr dirty="0" err="1"/>
              <a:t>السعر</a:t>
            </a:r>
            <a:r>
              <a:rPr dirty="0"/>
              <a:t> </a:t>
            </a:r>
            <a:r>
              <a:rPr dirty="0" err="1"/>
              <a:t>الأساسي</a:t>
            </a:r>
            <a:r>
              <a:rPr dirty="0"/>
              <a:t>. </a:t>
            </a:r>
            <a:r>
              <a:rPr dirty="0" err="1"/>
              <a:t>نسبة</a:t>
            </a:r>
            <a:r>
              <a:rPr dirty="0"/>
              <a:t> </a:t>
            </a:r>
            <a:r>
              <a:rPr dirty="0" err="1"/>
              <a:t>صفوف</a:t>
            </a:r>
            <a:r>
              <a:rPr dirty="0"/>
              <a:t> </a:t>
            </a:r>
            <a:r>
              <a:rPr dirty="0" err="1"/>
              <a:t>الترويج</a:t>
            </a:r>
            <a:r>
              <a:rPr dirty="0"/>
              <a:t> </a:t>
            </a:r>
            <a:r>
              <a:rPr dirty="0" err="1"/>
              <a:t>مؤشر</a:t>
            </a:r>
            <a:r>
              <a:rPr dirty="0"/>
              <a:t> </a:t>
            </a:r>
            <a:r>
              <a:rPr dirty="0" err="1"/>
              <a:t>وصفي</a:t>
            </a:r>
            <a:r>
              <a:rPr dirty="0"/>
              <a:t>. </a:t>
            </a:r>
            <a:r>
              <a:rPr dirty="0" err="1"/>
              <a:t>النتائج</a:t>
            </a:r>
            <a:r>
              <a:rPr dirty="0"/>
              <a:t> </a:t>
            </a:r>
            <a:r>
              <a:rPr dirty="0" err="1"/>
              <a:t>من</a:t>
            </a:r>
            <a:r>
              <a:rPr dirty="0"/>
              <a:t> </a:t>
            </a:r>
            <a:r>
              <a:rPr dirty="0" err="1"/>
              <a:t>خلية</a:t>
            </a:r>
            <a:r>
              <a:rPr dirty="0"/>
              <a:t> 6، </a:t>
            </a:r>
            <a:r>
              <a:rPr dirty="0" err="1"/>
              <a:t>وحصة</a:t>
            </a:r>
            <a:r>
              <a:rPr dirty="0"/>
              <a:t> </a:t>
            </a:r>
            <a:r>
              <a:rPr dirty="0" err="1"/>
              <a:t>الفئة</a:t>
            </a:r>
            <a:r>
              <a:rPr dirty="0"/>
              <a:t> </a:t>
            </a:r>
            <a:r>
              <a:rPr dirty="0" err="1"/>
              <a:t>وعدد</a:t>
            </a:r>
            <a:r>
              <a:rPr dirty="0"/>
              <a:t> </a:t>
            </a:r>
            <a:r>
              <a:rPr dirty="0" err="1"/>
              <a:t>الوجبات</a:t>
            </a:r>
            <a:r>
              <a:rPr dirty="0"/>
              <a:t> </a:t>
            </a:r>
            <a:r>
              <a:rPr dirty="0" err="1"/>
              <a:t>من</a:t>
            </a:r>
            <a:r>
              <a:rPr dirty="0"/>
              <a:t> </a:t>
            </a:r>
            <a:r>
              <a:rPr dirty="0" err="1"/>
              <a:t>خلية</a:t>
            </a:r>
            <a:r>
              <a:rPr dirty="0"/>
              <a:t> 8.</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ابدأ بقراءة المحورين: كل نقطة إجمالي الطلب المسجل في أسبوع. أعلى قيمة 1,303,457 في الأسبوع 48، وأدناها 380,065 في الأسبوع 62؛ الأعلى أعلى بنحو 243% من الأدنى. هذه مقارنة داخل العينة وليست توقعًا أو دليلًا على الموسمية؛ لا توجد تواريخ فعلية. الخلايا 7 وملخص النتائج في 14.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اشرح طريقتين للتجميع: حسب category لمعرفة حصة الفئة، وحسب meal_id لترتيب الوجبات وحساب الحصة التراكمية. Beverages تمثل 33.9%، والوجبة 2290 أعلى مجموعًا بنحو 9.77 مليون طلب. احتجنا إلى 22 وجبة من أصل 51 لتجاوز 80%. هذه حصص طلب مسجل وليست أرباحًا. الخلية 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الرسم يقارن مجموع الطلب حسب نوع المركز، والجدول يعرض عدد المراكز ومتوسط الطلب لكل سجل. المركز 13 من النوع TYPE_B سجّل أعلى مجموع، نحو 4.30 مليون. متوسطات الطلب المسجل لكل سجل تقريبًا 262 في TYPE_A و319 في TYPE_B و207 في TYPE_C. لا نسمّي ذلك كفاءة؛ فالأحجام وعدد المراكز والتغطية تختلف. الخلايا 9 و14.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بيّن أن المقارنة تقصر البيانات على أزواج المركز والوجبة التي لها سجلات مع الترويج وبدونه، لتخفيف اختلاف مزيج المنتجات. وسيط الطلب للبريد 338 مقابل 149 (فرق نسبي +126.8%)، وللصفحة 350 مقابل 148 (+136.5%). استُخدم Mann–Whitney ثنائي الطرف، وصُححت ثلاثة اختبارات بطريقة Holm. الاختيار غير عشوائي، وقد تتزامن الحملات مع الخصم أو مواسم وطلب سابق؛ لذلك هذا ارتباط لا أثر سببي ولا دليل ربحية. الخلية 10.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عرّف نسبة الخصم كما حُسبت: (base_price ناقص checkout_price) مقسومًا على base_price. ثم اشرح أن Spearman يقيس العلاقة الرتيبة، وأن القيمة 0.122 تمثل ارتباطًا موجبًا ضعيفًا. قيمة p الصغيرة في عينة كبيرة لا تجعل الأثر التجاري مهمًا. قد تترافق الخصومات مع العروض أو منتجات وأسْابيع مختلفة، ولا توجد تكاليف أو هوامش لتقدير الربحية. الخلية 11.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اشرح أن الطلب جُمّع أسبوعيًا لكل وجبة عبر المراكز، ثم حُسب الانحراف المعياري مقسومًا على المتوسط (CV). رتّب الدفتر الوجبات باستخدام رتب مئينية للحجم والتذبذب معًا. ظهرت 2290 كأعلى أولوية، ثم 1971 و1754 ضمن الوجبات البارزة. لا تترجم هذا الترتيب مباشرة إلى مخزون: افحص السلسلة لكل مركز ووجبة، واستخدم المئين 90 كمرجع تجريبي، مع مراعاة الصلاحية والتغطية. الخلية 12.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إضافة اختيارية في الدفتر. قُسم التدريب زمنيًا، واستخدمت آخر عشرة أسابيع للتحقق. انحدار NumPy الخطي استخدم الطلب السابق، الأسبوع، الخصم، ومؤشري الترويج؛ وقورن بخط أساس يكرر طلب الأسبوع السابق على السجلات ذات الأسبوع السابق المتصل. MAE هو متوسط الخطأ المطلق لكل سجل: 97.16 للانحدار و81.78 للخط الأساس، لذا اختير الخط الأساس. أُعيد التدريب على بيانات التدريب لإنتاج تنبؤ لكل صف اختبار، ثم تُرحّل التنبؤات أسبوعًا بعد أسبوع. لا نملك قيم الطلب الفعلية للاختبار لتقييمها، والتحقق ليس محاكاة عشرة أسابيع كاملة. الخلية 13.</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اعرض التوصيات باعتبارها خطوات لا نتائج مثبتة. تجربة المخزون تستفيد من التذبذب والطلب حسب المركز والوجبة، وتُقاس بمعدل النفاد والهدر لكل ألف طلب مع مستوى الخدمة. اختبار الترويج يجب أن يحدد وحدة التوزيع والعلاج والمقارنة والفترة مسبقًا، ويفصل القنوات قدر الإمكان. اختبار الخصم يحتاج حساب هامش المساهمة وتكاليف المواد والحملة. الخلية 14 وتوصيات تقرير العميل.</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اختم بالفصل بين الوصف والاستنتاج: نعرف كيف توزّع الطلب المسجل في هذه البيانات، لكننا لا نعرف مباشرةً الطلب غير الملبّى أو الهدر أو الربحية. لا توجد تواريخ فعلية أو مواقع معلنة، والترويج ليس تجربة عشوائية. اذكر أن Copilot استُخدم للمساعدة في إعداد التحليل والتوثيق، لكن النتائج أعيد إنتاجها من الدفتر وتم التحقق من ملفات الرسوم والمخرجات. ادعُ إلى اختبار مضبوط قبل تغيير سياسة المخزون أو التسعير. الخلايا 14–15.</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A3E"/>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822960"/>
            <a:ext cx="10424160" cy="502920"/>
          </a:xfrm>
          <a:prstGeom prst="rect">
            <a:avLst/>
          </a:prstGeom>
          <a:noFill/>
        </p:spPr>
        <p:txBody>
          <a:bodyPr wrap="square" lIns="73152" tIns="36576" rIns="73152" bIns="36576" anchor="ctr">
            <a:spAutoFit/>
          </a:bodyPr>
          <a:lstStyle/>
          <a:p>
            <a:pPr algn="r"/>
            <a:r>
              <a:rPr sz="1500" b="1">
                <a:solidFill>
                  <a:srgbClr val="DF9D3A"/>
                </a:solidFill>
                <a:latin typeface="Aptos"/>
              </a:rPr>
              <a:t>ﺕﺎﺒﺟﻮﻟﺍ ﻰﻠﻋ ﺐﻠﻄﻟﺍ ﺕﺎﻧﺎﻴﺑ ﻞﻴﻠﺤﺗ ﻉﻭﺮﺸﻣ</a:t>
            </a:r>
          </a:p>
        </p:txBody>
      </p:sp>
      <p:sp>
        <p:nvSpPr>
          <p:cNvPr id="4" name="TextBox 3"/>
          <p:cNvSpPr txBox="1"/>
          <p:nvPr/>
        </p:nvSpPr>
        <p:spPr>
          <a:xfrm>
            <a:off x="868680" y="1417320"/>
            <a:ext cx="10241280" cy="731520"/>
          </a:xfrm>
          <a:prstGeom prst="rect">
            <a:avLst/>
          </a:prstGeom>
          <a:noFill/>
        </p:spPr>
        <p:txBody>
          <a:bodyPr wrap="square" lIns="73152" tIns="36576" rIns="73152" bIns="36576" anchor="ctr">
            <a:spAutoFit/>
          </a:bodyPr>
          <a:lstStyle/>
          <a:p>
            <a:pPr algn="r"/>
            <a:r>
              <a:rPr sz="3400" b="1">
                <a:solidFill>
                  <a:srgbClr val="FFFFFF"/>
                </a:solidFill>
                <a:latin typeface="Aptos"/>
              </a:rPr>
              <a:t>؟ﺀﺎﻛﺬﺑ ﺐﻠﻄﻠﻟ ﻂﻄﺨﻧ ﻒﻴﻛ</a:t>
            </a:r>
          </a:p>
        </p:txBody>
      </p:sp>
      <p:sp>
        <p:nvSpPr>
          <p:cNvPr id="5" name="TextBox 4"/>
          <p:cNvSpPr txBox="1"/>
          <p:nvPr/>
        </p:nvSpPr>
        <p:spPr>
          <a:xfrm>
            <a:off x="914400" y="2331720"/>
            <a:ext cx="9966960" cy="868680"/>
          </a:xfrm>
          <a:prstGeom prst="rect">
            <a:avLst/>
          </a:prstGeom>
          <a:noFill/>
        </p:spPr>
        <p:txBody>
          <a:bodyPr wrap="square" lIns="73152" tIns="36576" rIns="73152" bIns="36576" anchor="ctr">
            <a:spAutoFit/>
          </a:bodyPr>
          <a:lstStyle/>
          <a:p>
            <a:pPr algn="r"/>
            <a:r>
              <a:rPr sz="1600" b="0">
                <a:solidFill>
                  <a:srgbClr val="C3D8DE"/>
                </a:solidFill>
                <a:latin typeface="Aptos"/>
              </a:rPr>
              <a:t>.ﻥﻭﺰﺨﻤﻟﺍ ﻂﻴﻄﺨﺗ ﻢﻋﺪﻟ ﺕﺎﻣﻮﺼﺨﻟﺍﻭ ﺽﻭﺮﻌﻟﺎﺑ ﻪﻃﺎﺒﺗﺭﺍ ﺔﺳﺍﺭﺩﻭ ،ﺰﻴﻬﺠﺘﻟﺍ ﺰﻛﺍﺮﻣﻭ ﺕﺎﺒﺟﻮﻟﺍ ﻦﻴﺑ ﻪﻓﻼﺘﺧﺍﻭ ﺐﻠﻄﻟﺍ ﺮﻴﻐﺗ ﻢﻬﻔﻟ ﺕﺎﺒﺟﻭ ﻞﻴﺻﻮﺗ ﺔﻛﺮﺸﻟ ﺔﻴﻋﻮﺒﺳﺃ ﺕﺎﻧﺎﻴﺑ ﻞﻴﻠﺤﺗ</a:t>
            </a:r>
          </a:p>
        </p:txBody>
      </p:sp>
      <p:sp>
        <p:nvSpPr>
          <p:cNvPr id="6" name="Rounded Rectangle 5"/>
          <p:cNvSpPr/>
          <p:nvPr/>
        </p:nvSpPr>
        <p:spPr>
          <a:xfrm>
            <a:off x="896112" y="3657600"/>
            <a:ext cx="10195560" cy="1097280"/>
          </a:xfrm>
          <a:prstGeom prst="roundRect">
            <a:avLst/>
          </a:prstGeom>
          <a:solidFill>
            <a:srgbClr val="1A3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3767328"/>
            <a:ext cx="2971800" cy="438912"/>
          </a:xfrm>
          <a:prstGeom prst="rect">
            <a:avLst/>
          </a:prstGeom>
          <a:noFill/>
        </p:spPr>
        <p:txBody>
          <a:bodyPr wrap="square" lIns="73152" tIns="36576" rIns="73152" bIns="36576" anchor="ctr">
            <a:spAutoFit/>
          </a:bodyPr>
          <a:lstStyle/>
          <a:p>
            <a:pPr algn="r"/>
            <a:r>
              <a:rPr sz="2500" b="1">
                <a:solidFill>
                  <a:srgbClr val="FFFFFF"/>
                </a:solidFill>
                <a:latin typeface="Aptos"/>
              </a:rPr>
              <a:t>ﻥﻮﻴﻠﻣ 119.56</a:t>
            </a:r>
          </a:p>
        </p:txBody>
      </p:sp>
      <p:sp>
        <p:nvSpPr>
          <p:cNvPr id="8" name="TextBox 7"/>
          <p:cNvSpPr txBox="1"/>
          <p:nvPr/>
        </p:nvSpPr>
        <p:spPr>
          <a:xfrm>
            <a:off x="1188720" y="4251960"/>
            <a:ext cx="2743200" cy="256032"/>
          </a:xfrm>
          <a:prstGeom prst="rect">
            <a:avLst/>
          </a:prstGeom>
          <a:noFill/>
        </p:spPr>
        <p:txBody>
          <a:bodyPr wrap="square" lIns="73152" tIns="36576" rIns="73152" bIns="36576" anchor="ctr">
            <a:spAutoFit/>
          </a:bodyPr>
          <a:lstStyle/>
          <a:p>
            <a:pPr algn="r"/>
            <a:r>
              <a:rPr sz="1100" b="0">
                <a:solidFill>
                  <a:srgbClr val="C3D8DE"/>
                </a:solidFill>
                <a:latin typeface="Aptos"/>
              </a:rPr>
              <a:t>ﻞﺠﺴﻣ ﺐﻠﻃ</a:t>
            </a:r>
          </a:p>
        </p:txBody>
      </p:sp>
      <p:sp>
        <p:nvSpPr>
          <p:cNvPr id="9" name="TextBox 8"/>
          <p:cNvSpPr txBox="1"/>
          <p:nvPr/>
        </p:nvSpPr>
        <p:spPr>
          <a:xfrm>
            <a:off x="4572000" y="3767328"/>
            <a:ext cx="2560320" cy="438912"/>
          </a:xfrm>
          <a:prstGeom prst="rect">
            <a:avLst/>
          </a:prstGeom>
          <a:noFill/>
        </p:spPr>
        <p:txBody>
          <a:bodyPr wrap="square" lIns="73152" tIns="36576" rIns="73152" bIns="36576" anchor="ctr">
            <a:spAutoFit/>
          </a:bodyPr>
          <a:lstStyle/>
          <a:p>
            <a:pPr algn="r"/>
            <a:r>
              <a:rPr sz="2300" b="1">
                <a:solidFill>
                  <a:srgbClr val="FFFFFF"/>
                </a:solidFill>
                <a:latin typeface="Aptos"/>
              </a:rPr>
              <a:t>ﺎﻋﻮﺒﺳﺃ 145</a:t>
            </a:r>
          </a:p>
        </p:txBody>
      </p:sp>
      <p:sp>
        <p:nvSpPr>
          <p:cNvPr id="10" name="TextBox 9"/>
          <p:cNvSpPr txBox="1"/>
          <p:nvPr/>
        </p:nvSpPr>
        <p:spPr>
          <a:xfrm>
            <a:off x="4617720" y="4251960"/>
            <a:ext cx="2468880" cy="256032"/>
          </a:xfrm>
          <a:prstGeom prst="rect">
            <a:avLst/>
          </a:prstGeom>
          <a:noFill/>
        </p:spPr>
        <p:txBody>
          <a:bodyPr wrap="square" lIns="73152" tIns="36576" rIns="73152" bIns="36576" anchor="ctr">
            <a:spAutoFit/>
          </a:bodyPr>
          <a:lstStyle/>
          <a:p>
            <a:pPr algn="r"/>
            <a:r>
              <a:rPr sz="1100" b="0">
                <a:solidFill>
                  <a:srgbClr val="C3D8DE"/>
                </a:solidFill>
                <a:latin typeface="Aptos"/>
              </a:rPr>
              <a:t>ﺐﻳﺭﺪﺘﻟﺍ ﺕﺎﻧﺎﻴﺑ ﻲﻓ</a:t>
            </a:r>
          </a:p>
        </p:txBody>
      </p:sp>
      <p:sp>
        <p:nvSpPr>
          <p:cNvPr id="11" name="TextBox 10"/>
          <p:cNvSpPr txBox="1"/>
          <p:nvPr/>
        </p:nvSpPr>
        <p:spPr>
          <a:xfrm>
            <a:off x="7772400" y="3767328"/>
            <a:ext cx="2560320" cy="438912"/>
          </a:xfrm>
          <a:prstGeom prst="rect">
            <a:avLst/>
          </a:prstGeom>
          <a:noFill/>
        </p:spPr>
        <p:txBody>
          <a:bodyPr wrap="square" lIns="73152" tIns="36576" rIns="73152" bIns="36576" anchor="ctr">
            <a:spAutoFit/>
          </a:bodyPr>
          <a:lstStyle/>
          <a:p>
            <a:pPr algn="r"/>
            <a:r>
              <a:rPr sz="2300" b="1">
                <a:solidFill>
                  <a:srgbClr val="FFFFFF"/>
                </a:solidFill>
                <a:latin typeface="Aptos"/>
              </a:rPr>
              <a:t>ﺍﺰﻛﺮﻣ 77</a:t>
            </a:r>
          </a:p>
        </p:txBody>
      </p:sp>
      <p:sp>
        <p:nvSpPr>
          <p:cNvPr id="12" name="TextBox 11"/>
          <p:cNvSpPr txBox="1"/>
          <p:nvPr/>
        </p:nvSpPr>
        <p:spPr>
          <a:xfrm>
            <a:off x="7818120" y="4251960"/>
            <a:ext cx="2468880" cy="256032"/>
          </a:xfrm>
          <a:prstGeom prst="rect">
            <a:avLst/>
          </a:prstGeom>
          <a:noFill/>
        </p:spPr>
        <p:txBody>
          <a:bodyPr wrap="square" lIns="73152" tIns="36576" rIns="73152" bIns="36576" anchor="ctr">
            <a:spAutoFit/>
          </a:bodyPr>
          <a:lstStyle/>
          <a:p>
            <a:pPr algn="r"/>
            <a:r>
              <a:rPr sz="1100" b="0">
                <a:solidFill>
                  <a:srgbClr val="C3D8DE"/>
                </a:solidFill>
                <a:latin typeface="Aptos"/>
              </a:rPr>
              <a:t>ﺰﻴﻬﺠﺗ</a:t>
            </a:r>
          </a:p>
        </p:txBody>
      </p:sp>
      <p:sp>
        <p:nvSpPr>
          <p:cNvPr id="13" name="TextBox 12"/>
          <p:cNvSpPr txBox="1"/>
          <p:nvPr/>
        </p:nvSpPr>
        <p:spPr>
          <a:xfrm>
            <a:off x="914400" y="5669280"/>
            <a:ext cx="9875520" cy="384048"/>
          </a:xfrm>
          <a:prstGeom prst="rect">
            <a:avLst/>
          </a:prstGeom>
          <a:noFill/>
        </p:spPr>
        <p:txBody>
          <a:bodyPr wrap="square" lIns="73152" tIns="36576" rIns="73152" bIns="36576" anchor="ctr">
            <a:spAutoFit/>
          </a:bodyPr>
          <a:lstStyle/>
          <a:p>
            <a:pPr algn="r"/>
            <a:r>
              <a:rPr sz="1500" b="1">
                <a:solidFill>
                  <a:srgbClr val="FFFFFF"/>
                </a:solidFill>
                <a:latin typeface="Aptos"/>
              </a:rPr>
              <a:t>ﻢﻠﺴﻣ ﻥﺍﻭﺭ :ﺩﺍﺪﻋﺇ</a:t>
            </a:r>
          </a:p>
        </p:txBody>
      </p:sp>
      <p:sp>
        <p:nvSpPr>
          <p:cNvPr id="14" name="TextBox 13"/>
          <p:cNvSpPr txBox="1"/>
          <p:nvPr/>
        </p:nvSpPr>
        <p:spPr>
          <a:xfrm>
            <a:off x="914400" y="6126480"/>
            <a:ext cx="9875520" cy="292608"/>
          </a:xfrm>
          <a:prstGeom prst="rect">
            <a:avLst/>
          </a:prstGeom>
          <a:noFill/>
        </p:spPr>
        <p:txBody>
          <a:bodyPr wrap="square" lIns="73152" tIns="36576" rIns="73152" bIns="36576" anchor="ctr">
            <a:spAutoFit/>
          </a:bodyPr>
          <a:lstStyle/>
          <a:p>
            <a:pPr algn="r"/>
            <a:r>
              <a:rPr sz="1000" b="0">
                <a:solidFill>
                  <a:srgbClr val="C3D8DE"/>
                </a:solidFill>
                <a:latin typeface="Aptos"/>
              </a:rPr>
              <a:t>ﺔﻴﺒﺒﺴﻟﺍ ﺖﺒﺜﻳ ﻻ ﻁﺎﺒﺗﺭﻻﺍ — ﻞﻀﻓﺃ ﺕﺍﺭﺍﺮﻗ ﻢﻋﺪﻟ ﻲﻔﺻﻭ ﻞﻴﻠﺤﺗ</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ﺭﺎﻃﻹﺍ | 01</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؟ﻪﻨﻋ ﺐﻴﺠﻧ ﻥﺃ ﺪﻳﺮﻧ ﻱﺬﻟﺍ ﻝﺍﺆﺴﻟﺍ ﺎﻣ</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.ﺐﻠﻄﻟﺍ ﺕﺎﻧﺎﻴﺑ ﻲﻓ ﺱﺎﻴﻘﻠﻟ ﺔﻠﺑﺎﻗ ﺔﻠﺌﺳﺃ ﻰﻟﺇ ﻖﻳﻮﺴﺘﻟﺍﻭ ﻂﻴﻄﺨﺘﻟﺍ ﺔﻠﻜﺸﻣ ﻝﻮﺤﻧ</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2–1 ﺮﺘﻓﺪﻟﺍ ﺎﻳﻼﺧ  •  02  |  ﺕﺎﺒﺟﻮﻟﺍ ﻰﻠﻋ ﺐﻠﻄﻟﺍ ﻞﻴﻠﺤﺗ</a:t>
            </a:r>
          </a:p>
        </p:txBody>
      </p:sp>
      <p:sp>
        <p:nvSpPr>
          <p:cNvPr id="7" name="Rounded Rectangle 6"/>
          <p:cNvSpPr/>
          <p:nvPr/>
        </p:nvSpPr>
        <p:spPr>
          <a:xfrm>
            <a:off x="731520" y="1783080"/>
            <a:ext cx="5257800" cy="416052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011680"/>
            <a:ext cx="4526280" cy="365760"/>
          </a:xfrm>
          <a:prstGeom prst="rect">
            <a:avLst/>
          </a:prstGeom>
          <a:noFill/>
        </p:spPr>
        <p:txBody>
          <a:bodyPr wrap="square" lIns="73152" tIns="36576" rIns="73152" bIns="36576" anchor="ctr">
            <a:spAutoFit/>
          </a:bodyPr>
          <a:lstStyle/>
          <a:p>
            <a:pPr algn="r"/>
            <a:r>
              <a:rPr sz="1800" b="1">
                <a:solidFill>
                  <a:srgbClr val="122A3E"/>
                </a:solidFill>
                <a:latin typeface="Aptos"/>
              </a:rPr>
              <a:t>ﻞﻤﻌﻟﺍ ﻱﺪﺤﺗ</a:t>
            </a:r>
          </a:p>
        </p:txBody>
      </p:sp>
      <p:sp>
        <p:nvSpPr>
          <p:cNvPr id="9" name="Oval 8"/>
          <p:cNvSpPr/>
          <p:nvPr/>
        </p:nvSpPr>
        <p:spPr>
          <a:xfrm>
            <a:off x="5422392" y="277063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606040"/>
            <a:ext cx="4389120" cy="594360"/>
          </a:xfrm>
          <a:prstGeom prst="rect">
            <a:avLst/>
          </a:prstGeom>
          <a:noFill/>
        </p:spPr>
        <p:txBody>
          <a:bodyPr wrap="square" lIns="73152" tIns="36576" rIns="73152" bIns="36576" anchor="ctr">
            <a:spAutoFit/>
          </a:bodyPr>
          <a:lstStyle/>
          <a:p>
            <a:pPr algn="r"/>
            <a:r>
              <a:rPr sz="1500" b="0">
                <a:solidFill>
                  <a:srgbClr val="293945"/>
                </a:solidFill>
                <a:latin typeface="Aptos"/>
              </a:rPr>
              <a:t>.ﺰﻛﺍﺮﻤﻟﺍﻭ ﺕﺎﺒﺟﻮﻟﺍﻭ ﻊﻴﺑﺎﺳﻷﺍ ﻦﻴﺑ ﺮﻴﻐﺘﻳ ﺐﻠﻄﻟﺍ</a:t>
            </a:r>
          </a:p>
        </p:txBody>
      </p:sp>
      <p:sp>
        <p:nvSpPr>
          <p:cNvPr id="11" name="Oval 10"/>
          <p:cNvSpPr/>
          <p:nvPr/>
        </p:nvSpPr>
        <p:spPr>
          <a:xfrm>
            <a:off x="5422392" y="354787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383280"/>
            <a:ext cx="4389120" cy="594360"/>
          </a:xfrm>
          <a:prstGeom prst="rect">
            <a:avLst/>
          </a:prstGeom>
          <a:noFill/>
        </p:spPr>
        <p:txBody>
          <a:bodyPr wrap="square" lIns="73152" tIns="36576" rIns="73152" bIns="36576" anchor="ctr">
            <a:spAutoFit/>
          </a:bodyPr>
          <a:lstStyle/>
          <a:p>
            <a:pPr algn="r"/>
            <a:r>
              <a:rPr sz="1500" b="0">
                <a:solidFill>
                  <a:srgbClr val="293945"/>
                </a:solidFill>
                <a:latin typeface="Aptos"/>
              </a:rPr>
              <a:t>.ﺔﻳﺪﺻﺭ ﺎﻨﺗﺎﻧﺎﻴﺑ ﻦﻜﻟ ،ﺮﻴﻐﺘﺗ ﺭﺎﻌﺳﻷﺍﻭ ﺽﻭﺮﻌﻟﺍ</a:t>
            </a:r>
          </a:p>
        </p:txBody>
      </p:sp>
      <p:sp>
        <p:nvSpPr>
          <p:cNvPr id="13" name="Oval 12"/>
          <p:cNvSpPr/>
          <p:nvPr/>
        </p:nvSpPr>
        <p:spPr>
          <a:xfrm>
            <a:off x="5422392" y="43251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160520"/>
            <a:ext cx="4389120" cy="594360"/>
          </a:xfrm>
          <a:prstGeom prst="rect">
            <a:avLst/>
          </a:prstGeom>
          <a:noFill/>
        </p:spPr>
        <p:txBody>
          <a:bodyPr wrap="square" lIns="73152" tIns="36576" rIns="73152" bIns="36576" anchor="ctr">
            <a:spAutoFit/>
          </a:bodyPr>
          <a:lstStyle/>
          <a:p>
            <a:pPr algn="r"/>
            <a:r>
              <a:rPr sz="1500" b="0">
                <a:solidFill>
                  <a:srgbClr val="293945"/>
                </a:solidFill>
                <a:latin typeface="Aptos"/>
              </a:rPr>
              <a:t>.ﺎﻳﺮﻔﺻ ﺎﺒﻠﻃ ﻻ ،ﺕﺎﻧﺎﻴﺒﻟﺍ ﺮﻓﻮﺗ ﻡﺪﻋ ﻲﻨﻌﻳ ﺪﻗ ﻞﺠﺳ ﺏﺎﻴﻏ</a:t>
            </a:r>
          </a:p>
        </p:txBody>
      </p:sp>
      <p:sp>
        <p:nvSpPr>
          <p:cNvPr id="15" name="Oval 14"/>
          <p:cNvSpPr/>
          <p:nvPr/>
        </p:nvSpPr>
        <p:spPr>
          <a:xfrm>
            <a:off x="5422392" y="510235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937760"/>
            <a:ext cx="4389120" cy="594360"/>
          </a:xfrm>
          <a:prstGeom prst="rect">
            <a:avLst/>
          </a:prstGeom>
          <a:noFill/>
        </p:spPr>
        <p:txBody>
          <a:bodyPr wrap="square" lIns="73152" tIns="36576" rIns="73152" bIns="36576" anchor="ctr">
            <a:spAutoFit/>
          </a:bodyPr>
          <a:lstStyle/>
          <a:p>
            <a:pPr algn="r"/>
            <a:r>
              <a:rPr sz="1500" b="0">
                <a:solidFill>
                  <a:srgbClr val="293945"/>
                </a:solidFill>
                <a:latin typeface="Aptos"/>
              </a:rPr>
              <a:t>.ﺔﻔﻠﻜﺘﻟﺍﻭ ﺭﺪﻬﻟﺍﻭ ﻥﻭﺰﺨﻤﻟﺍ ﺕﺎﻧﺎﻴﺑ ﺮﻓﻮﺘﺗ ﻻ</a:t>
            </a:r>
          </a:p>
        </p:txBody>
      </p:sp>
      <p:sp>
        <p:nvSpPr>
          <p:cNvPr id="17" name="Rounded Rectangle 16"/>
          <p:cNvSpPr/>
          <p:nvPr/>
        </p:nvSpPr>
        <p:spPr>
          <a:xfrm>
            <a:off x="6217920" y="1783080"/>
            <a:ext cx="5230368" cy="416052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2011680"/>
            <a:ext cx="4480560" cy="365760"/>
          </a:xfrm>
          <a:prstGeom prst="rect">
            <a:avLst/>
          </a:prstGeom>
          <a:noFill/>
        </p:spPr>
        <p:txBody>
          <a:bodyPr wrap="square" lIns="73152" tIns="36576" rIns="73152" bIns="36576" anchor="ctr">
            <a:spAutoFit/>
          </a:bodyPr>
          <a:lstStyle/>
          <a:p>
            <a:pPr algn="r"/>
            <a:r>
              <a:rPr sz="1800" b="1">
                <a:solidFill>
                  <a:srgbClr val="122A3E"/>
                </a:solidFill>
                <a:latin typeface="Aptos"/>
              </a:rPr>
              <a:t>ﻞﻴﻠﺤﺘﻟﺍ ﺭﺎﺴﻣ</a:t>
            </a:r>
          </a:p>
        </p:txBody>
      </p:sp>
      <p:sp>
        <p:nvSpPr>
          <p:cNvPr id="19" name="Oval 18"/>
          <p:cNvSpPr/>
          <p:nvPr/>
        </p:nvSpPr>
        <p:spPr>
          <a:xfrm>
            <a:off x="10908792" y="27249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2560320"/>
            <a:ext cx="4389120" cy="475488"/>
          </a:xfrm>
          <a:prstGeom prst="rect">
            <a:avLst/>
          </a:prstGeom>
          <a:noFill/>
        </p:spPr>
        <p:txBody>
          <a:bodyPr wrap="square" lIns="73152" tIns="36576" rIns="73152" bIns="36576" anchor="ctr">
            <a:spAutoFit/>
          </a:bodyPr>
          <a:lstStyle/>
          <a:p>
            <a:pPr algn="r"/>
            <a:r>
              <a:rPr sz="1300" b="0">
                <a:solidFill>
                  <a:srgbClr val="293945"/>
                </a:solidFill>
                <a:latin typeface="Aptos"/>
              </a:rPr>
              <a:t>ﺕﺎﻧﺎﻴﺒﻟﺍ ﺓﺩﻮﺟﻭ ﺢﻴﺗﺎﻔﻤﻟﺍﻭ ﺕﺎﻔﻠﻤﻟﺍ ﺺﺤﻓ  ١</a:t>
            </a:r>
          </a:p>
        </p:txBody>
      </p:sp>
      <p:sp>
        <p:nvSpPr>
          <p:cNvPr id="21" name="Oval 20"/>
          <p:cNvSpPr/>
          <p:nvPr/>
        </p:nvSpPr>
        <p:spPr>
          <a:xfrm>
            <a:off x="10908792" y="331927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3154679"/>
            <a:ext cx="4389120" cy="475488"/>
          </a:xfrm>
          <a:prstGeom prst="rect">
            <a:avLst/>
          </a:prstGeom>
          <a:noFill/>
        </p:spPr>
        <p:txBody>
          <a:bodyPr wrap="square" lIns="73152" tIns="36576" rIns="73152" bIns="36576" anchor="ctr">
            <a:spAutoFit/>
          </a:bodyPr>
          <a:lstStyle/>
          <a:p>
            <a:pPr algn="r"/>
            <a:r>
              <a:rPr sz="1300" b="0">
                <a:solidFill>
                  <a:srgbClr val="293945"/>
                </a:solidFill>
                <a:latin typeface="Aptos"/>
              </a:rPr>
              <a:t>ﺐﻠﻄﻟﺍ ﺕﺍﺮﺷﺆﻣ ﺏﺎﺴﺣﻭ ﺩﺎﻌﺑﻷﺍ ﻂﺑﺭ  ٢</a:t>
            </a:r>
          </a:p>
        </p:txBody>
      </p:sp>
      <p:sp>
        <p:nvSpPr>
          <p:cNvPr id="23" name="Oval 22"/>
          <p:cNvSpPr/>
          <p:nvPr/>
        </p:nvSpPr>
        <p:spPr>
          <a:xfrm>
            <a:off x="10908792" y="3913631"/>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3749039"/>
            <a:ext cx="4389120" cy="475488"/>
          </a:xfrm>
          <a:prstGeom prst="rect">
            <a:avLst/>
          </a:prstGeom>
          <a:noFill/>
        </p:spPr>
        <p:txBody>
          <a:bodyPr wrap="square" lIns="73152" tIns="36576" rIns="73152" bIns="36576" anchor="ctr">
            <a:spAutoFit/>
          </a:bodyPr>
          <a:lstStyle/>
          <a:p>
            <a:pPr algn="r"/>
            <a:r>
              <a:rPr sz="1300" b="0">
                <a:solidFill>
                  <a:srgbClr val="293945"/>
                </a:solidFill>
                <a:latin typeface="Aptos"/>
              </a:rPr>
              <a:t>ﺰﻛﺍﺮﻤﻟﺍﻭ ﺕﺎﺌﻔﻟﺍﻭ ﻩﺎﺠﺗﻻﺍ ﻑﺎﺸﻜﺘﺳﺍ  ٣</a:t>
            </a:r>
          </a:p>
        </p:txBody>
      </p:sp>
      <p:sp>
        <p:nvSpPr>
          <p:cNvPr id="25" name="Oval 24"/>
          <p:cNvSpPr/>
          <p:nvPr/>
        </p:nvSpPr>
        <p:spPr>
          <a:xfrm>
            <a:off x="10908792" y="450799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4343400"/>
            <a:ext cx="4389120" cy="475488"/>
          </a:xfrm>
          <a:prstGeom prst="rect">
            <a:avLst/>
          </a:prstGeom>
          <a:noFill/>
        </p:spPr>
        <p:txBody>
          <a:bodyPr wrap="square" lIns="73152" tIns="36576" rIns="73152" bIns="36576" anchor="ctr">
            <a:spAutoFit/>
          </a:bodyPr>
          <a:lstStyle/>
          <a:p>
            <a:pPr algn="r"/>
            <a:r>
              <a:rPr sz="1300" b="0">
                <a:solidFill>
                  <a:srgbClr val="293945"/>
                </a:solidFill>
                <a:latin typeface="Aptos"/>
              </a:rPr>
              <a:t>ﺆﺒﻨﺘﻟﺍﻭ ﺏﺬﺑﺬﺘﻟﺍﻭ ﻁﺎﺒﺗﺭﻻﺍ ﺭﺎﺒﺘﺧﺍ  ٤</a:t>
            </a:r>
          </a:p>
        </p:txBody>
      </p:sp>
      <p:sp>
        <p:nvSpPr>
          <p:cNvPr id="27" name="Oval 26"/>
          <p:cNvSpPr/>
          <p:nvPr/>
        </p:nvSpPr>
        <p:spPr>
          <a:xfrm>
            <a:off x="10908792" y="5102352"/>
            <a:ext cx="68580" cy="68580"/>
          </a:xfrm>
          <a:prstGeom prst="ellipse">
            <a:avLst/>
          </a:prstGeom>
          <a:solidFill>
            <a:srgbClr val="DF9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4937760"/>
            <a:ext cx="4389120" cy="475488"/>
          </a:xfrm>
          <a:prstGeom prst="rect">
            <a:avLst/>
          </a:prstGeom>
          <a:noFill/>
        </p:spPr>
        <p:txBody>
          <a:bodyPr wrap="square" lIns="73152" tIns="36576" rIns="73152" bIns="36576" anchor="ctr">
            <a:spAutoFit/>
          </a:bodyPr>
          <a:lstStyle/>
          <a:p>
            <a:pPr algn="r"/>
            <a:r>
              <a:rPr sz="1300" b="0">
                <a:solidFill>
                  <a:srgbClr val="293945"/>
                </a:solidFill>
                <a:latin typeface="Aptos"/>
              </a:rPr>
              <a:t>ﺱﺎﻴﻘﻠﻟ ﺔﻠﺑﺎﻗ ﺔﺑﺮﺠﺗ ﻰﻟﺇ ﺞﺋﺎﺘﻨﻟﺍ ﻞﻳﻮﺤﺗ  ٥</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ﺓﺩﻮﺠﻟﺍﻭ ﺕﺎﻧﺎﻴﺒﻟﺍ | 02</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؟ﺔﻧﺭﺎﻘﻤﻟﺍﻭ ﻂﺑﺮﻠﻟ ﺔﺤﻟﺎﺻ ﺕﺎﻧﺎﻴﺒﻟﺍ ﻞﻫ :ﻞﻴﻠﺤﺘﻟﺍ ﻞﺒﻗ</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.ﺔﻴﻠﺻﻷﺍ ﺕﻼﺠﺴﻟﺍ ﻰﻠﻋ ﺎﻨﻈﻓﺎﺣﻭ ،ﺓﺩﺎﺘﻌﻤﻟﺍ ﺮﻴﻏ ﻢﻴﻘﻟﺍ ﺎﻨﻌﺟﺍﺭ ،ﺢﻴﺗﺎﻔﻤﻟﺍ ﺎﻨﺘﺒﺛ</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5–2 ﺮﺘﻓﺪﻟﺍ ﺎﻳﻼﺧ  •  03  |  ﺕﺎﺒﺟﻮﻟﺍ ﻰﻠﻋ ﺐﻠﻄﻟﺍ ﻞﻴﻠﺤﺗ</a:t>
            </a:r>
          </a:p>
        </p:txBody>
      </p:sp>
      <p:sp>
        <p:nvSpPr>
          <p:cNvPr id="7" name="Rounded Rectangle 6"/>
          <p:cNvSpPr/>
          <p:nvPr/>
        </p:nvSpPr>
        <p:spPr>
          <a:xfrm>
            <a:off x="777240" y="178308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18688" y="192938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190195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456,548</a:t>
            </a:r>
          </a:p>
        </p:txBody>
      </p:sp>
      <p:sp>
        <p:nvSpPr>
          <p:cNvPr id="10" name="TextBox 9"/>
          <p:cNvSpPr txBox="1"/>
          <p:nvPr/>
        </p:nvSpPr>
        <p:spPr>
          <a:xfrm>
            <a:off x="923544" y="235000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ﺐﻳﺭﺪﺗ ﻞﺠﺳ</a:t>
            </a:r>
          </a:p>
        </p:txBody>
      </p:sp>
      <p:sp>
        <p:nvSpPr>
          <p:cNvPr id="11" name="Rounded Rectangle 10"/>
          <p:cNvSpPr/>
          <p:nvPr/>
        </p:nvSpPr>
        <p:spPr>
          <a:xfrm>
            <a:off x="3474720" y="178308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16168" y="192938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21024" y="190195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32,573</a:t>
            </a:r>
          </a:p>
        </p:txBody>
      </p:sp>
      <p:sp>
        <p:nvSpPr>
          <p:cNvPr id="14" name="TextBox 13"/>
          <p:cNvSpPr txBox="1"/>
          <p:nvPr/>
        </p:nvSpPr>
        <p:spPr>
          <a:xfrm>
            <a:off x="3621024" y="235000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ﺭﺎﺒﺘﺧﺍ ﻞﺠﺳ</a:t>
            </a:r>
          </a:p>
        </p:txBody>
      </p:sp>
      <p:sp>
        <p:nvSpPr>
          <p:cNvPr id="15" name="TextBox 14"/>
          <p:cNvSpPr txBox="1"/>
          <p:nvPr/>
        </p:nvSpPr>
        <p:spPr>
          <a:xfrm>
            <a:off x="3621024" y="2633472"/>
            <a:ext cx="2167128" cy="201168"/>
          </a:xfrm>
          <a:prstGeom prst="rect">
            <a:avLst/>
          </a:prstGeom>
          <a:noFill/>
        </p:spPr>
        <p:txBody>
          <a:bodyPr wrap="square" lIns="73152" tIns="36576" rIns="73152" bIns="36576" anchor="ctr">
            <a:spAutoFit/>
          </a:bodyPr>
          <a:lstStyle/>
          <a:p>
            <a:pPr algn="r"/>
            <a:r>
              <a:rPr sz="900" b="0">
                <a:solidFill>
                  <a:srgbClr val="637480"/>
                </a:solidFill>
                <a:latin typeface="Aptos"/>
              </a:rPr>
              <a:t>ﺐﻠﻄﻟﺍ ﻑﺪﻫ ﻱﻮﺘﺤﻳ ﻻ</a:t>
            </a:r>
          </a:p>
        </p:txBody>
      </p:sp>
      <p:sp>
        <p:nvSpPr>
          <p:cNvPr id="16" name="Rounded Rectangle 15"/>
          <p:cNvSpPr/>
          <p:nvPr/>
        </p:nvSpPr>
        <p:spPr>
          <a:xfrm>
            <a:off x="6172200" y="178308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13648" y="192938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18504" y="190195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77 + 51</a:t>
            </a:r>
          </a:p>
        </p:txBody>
      </p:sp>
      <p:sp>
        <p:nvSpPr>
          <p:cNvPr id="19" name="TextBox 18"/>
          <p:cNvSpPr txBox="1"/>
          <p:nvPr/>
        </p:nvSpPr>
        <p:spPr>
          <a:xfrm>
            <a:off x="6318504" y="235000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ﺔﺒﺟﻭ + ﺍﺰﻛﺮﻣ</a:t>
            </a:r>
          </a:p>
        </p:txBody>
      </p:sp>
      <p:sp>
        <p:nvSpPr>
          <p:cNvPr id="20" name="Rounded Rectangle 19"/>
          <p:cNvSpPr/>
          <p:nvPr/>
        </p:nvSpPr>
        <p:spPr>
          <a:xfrm>
            <a:off x="8869680" y="178308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311128" y="192938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15984" y="190195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0</a:t>
            </a:r>
          </a:p>
        </p:txBody>
      </p:sp>
      <p:sp>
        <p:nvSpPr>
          <p:cNvPr id="23" name="TextBox 22"/>
          <p:cNvSpPr txBox="1"/>
          <p:nvPr/>
        </p:nvSpPr>
        <p:spPr>
          <a:xfrm>
            <a:off x="9015984" y="235000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ﺓﺭﺮﻜﻣ ﺐﻳﺭﺪﺗ ﺢﻴﺗﺎﻔﻣ</a:t>
            </a:r>
          </a:p>
        </p:txBody>
      </p:sp>
      <p:sp>
        <p:nvSpPr>
          <p:cNvPr id="24" name="Rounded Rectangle 23"/>
          <p:cNvSpPr/>
          <p:nvPr/>
        </p:nvSpPr>
        <p:spPr>
          <a:xfrm>
            <a:off x="777240" y="3246120"/>
            <a:ext cx="5257800" cy="251460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1560" y="3474720"/>
            <a:ext cx="4480560" cy="320040"/>
          </a:xfrm>
          <a:prstGeom prst="rect">
            <a:avLst/>
          </a:prstGeom>
          <a:noFill/>
        </p:spPr>
        <p:txBody>
          <a:bodyPr wrap="square" lIns="73152" tIns="36576" rIns="73152" bIns="36576" anchor="ctr">
            <a:spAutoFit/>
          </a:bodyPr>
          <a:lstStyle/>
          <a:p>
            <a:pPr algn="r"/>
            <a:r>
              <a:rPr sz="1600" b="1">
                <a:solidFill>
                  <a:srgbClr val="122A3E"/>
                </a:solidFill>
                <a:latin typeface="Aptos"/>
              </a:rPr>
              <a:t>ﺕﺍﺭﺍﺮﻗﻭ ﺹﻮﺤﻓ</a:t>
            </a:r>
          </a:p>
        </p:txBody>
      </p:sp>
      <p:sp>
        <p:nvSpPr>
          <p:cNvPr id="26" name="Oval 25"/>
          <p:cNvSpPr/>
          <p:nvPr/>
        </p:nvSpPr>
        <p:spPr>
          <a:xfrm>
            <a:off x="5468112" y="4142231"/>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3977639"/>
            <a:ext cx="4389120" cy="411480"/>
          </a:xfrm>
          <a:prstGeom prst="rect">
            <a:avLst/>
          </a:prstGeom>
          <a:noFill/>
        </p:spPr>
        <p:txBody>
          <a:bodyPr wrap="square" lIns="73152" tIns="36576" rIns="73152" bIns="36576" anchor="ctr">
            <a:spAutoFit/>
          </a:bodyPr>
          <a:lstStyle/>
          <a:p>
            <a:pPr algn="r"/>
            <a:r>
              <a:rPr sz="1200" b="0">
                <a:solidFill>
                  <a:srgbClr val="293945"/>
                </a:solidFill>
                <a:latin typeface="Aptos"/>
              </a:rPr>
              <a:t>.ﺓﺩﻮﻘﻔﻣ ﺔﻣﺎﻋ ﻊﻴﺑﺎﺳﺃ ﻭﺃ ﺓﺩﻮﻘﻔﻣ ﻢﻴﻗ ﻻ</a:t>
            </a:r>
          </a:p>
        </p:txBody>
      </p:sp>
      <p:sp>
        <p:nvSpPr>
          <p:cNvPr id="28" name="Oval 27"/>
          <p:cNvSpPr/>
          <p:nvPr/>
        </p:nvSpPr>
        <p:spPr>
          <a:xfrm>
            <a:off x="5468112" y="464515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4480560"/>
            <a:ext cx="4389120" cy="502920"/>
          </a:xfrm>
          <a:prstGeom prst="rect">
            <a:avLst/>
          </a:prstGeom>
          <a:noFill/>
        </p:spPr>
        <p:txBody>
          <a:bodyPr wrap="square" lIns="73152" tIns="36576" rIns="73152" bIns="36576" anchor="ctr">
            <a:spAutoFit/>
          </a:bodyPr>
          <a:lstStyle/>
          <a:p>
            <a:pPr algn="r"/>
            <a:r>
              <a:rPr sz="1200" b="0">
                <a:solidFill>
                  <a:srgbClr val="293945"/>
                </a:solidFill>
                <a:latin typeface="Aptos"/>
              </a:rPr>
              <a:t>.ﺭﺎﻔﺻﺄﺑ ﺎﻫﻸﻤﻧ ﻻ ؛ﺔﻠﻤﺘﻜﻣ ﺮﻴﻏ ﺔﺒﺟﻭ–ﺰﻛﺮﻣ ﺔﻠﺴﻠﺳ 2,350</a:t>
            </a:r>
          </a:p>
        </p:txBody>
      </p:sp>
      <p:sp>
        <p:nvSpPr>
          <p:cNvPr id="30" name="Oval 29"/>
          <p:cNvSpPr/>
          <p:nvPr/>
        </p:nvSpPr>
        <p:spPr>
          <a:xfrm>
            <a:off x="5468112" y="52395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05840" y="5074920"/>
            <a:ext cx="4389120" cy="502920"/>
          </a:xfrm>
          <a:prstGeom prst="rect">
            <a:avLst/>
          </a:prstGeom>
          <a:noFill/>
        </p:spPr>
        <p:txBody>
          <a:bodyPr wrap="square" lIns="73152" tIns="36576" rIns="73152" bIns="36576" anchor="ctr">
            <a:spAutoFit/>
          </a:bodyPr>
          <a:lstStyle/>
          <a:p>
            <a:pPr algn="r"/>
            <a:r>
              <a:rPr sz="1100" b="0">
                <a:solidFill>
                  <a:srgbClr val="293945"/>
                </a:solidFill>
                <a:latin typeface="Aptos"/>
              </a:rPr>
              <a:t>.ﺀﺎﻄﺧﺃ ﺎﻬﻧﺃ ﺽﺍﺮﺘﻓﺍ ﻥﻭﺩ ﺖﻴﻘﺑﺃ ؛ﻲﺳﺎﺳﻷﺍ ﻦﻣ ﻰﻠﻋﺃ ﻊﻴﺑ ﺮﻌﺳ 116,101</a:t>
            </a:r>
          </a:p>
        </p:txBody>
      </p:sp>
      <p:sp>
        <p:nvSpPr>
          <p:cNvPr id="32" name="Rounded Rectangle 31"/>
          <p:cNvSpPr/>
          <p:nvPr/>
        </p:nvSpPr>
        <p:spPr>
          <a:xfrm>
            <a:off x="6217920" y="3246120"/>
            <a:ext cx="5166360" cy="25146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0" y="3474720"/>
            <a:ext cx="4434840" cy="320040"/>
          </a:xfrm>
          <a:prstGeom prst="rect">
            <a:avLst/>
          </a:prstGeom>
          <a:noFill/>
        </p:spPr>
        <p:txBody>
          <a:bodyPr wrap="square" lIns="73152" tIns="36576" rIns="73152" bIns="36576" anchor="ctr">
            <a:spAutoFit/>
          </a:bodyPr>
          <a:lstStyle/>
          <a:p>
            <a:pPr algn="r"/>
            <a:r>
              <a:rPr sz="1600" b="1">
                <a:solidFill>
                  <a:srgbClr val="122A3E"/>
                </a:solidFill>
                <a:latin typeface="Aptos"/>
              </a:rPr>
              <a:t>ﺞﻣﺪﻟﺍ ﺔﻣﻼﺳ</a:t>
            </a:r>
          </a:p>
        </p:txBody>
      </p:sp>
      <p:sp>
        <p:nvSpPr>
          <p:cNvPr id="34" name="TextBox 33"/>
          <p:cNvSpPr txBox="1"/>
          <p:nvPr/>
        </p:nvSpPr>
        <p:spPr>
          <a:xfrm>
            <a:off x="6492240" y="3977639"/>
            <a:ext cx="4434840" cy="438912"/>
          </a:xfrm>
          <a:prstGeom prst="rect">
            <a:avLst/>
          </a:prstGeom>
          <a:noFill/>
        </p:spPr>
        <p:txBody>
          <a:bodyPr wrap="square" lIns="73152" tIns="36576" rIns="73152" bIns="36576" anchor="ctr">
            <a:spAutoFit/>
          </a:bodyPr>
          <a:lstStyle/>
          <a:p>
            <a:pPr algn="r"/>
            <a:r>
              <a:rPr sz="1300" b="1">
                <a:solidFill>
                  <a:srgbClr val="293945"/>
                </a:solidFill>
                <a:latin typeface="Aptos"/>
              </a:rPr>
              <a:t>ﺓﺪﻳﺮﻔﻟﺍ ﺩﺎﻌﺑﻷﺍ ﺢﻴﺗﺎﻔﻤﺑ many-to-one ﻂﺑﺭ</a:t>
            </a:r>
          </a:p>
        </p:txBody>
      </p:sp>
      <p:sp>
        <p:nvSpPr>
          <p:cNvPr id="35" name="TextBox 34"/>
          <p:cNvSpPr txBox="1"/>
          <p:nvPr/>
        </p:nvSpPr>
        <p:spPr>
          <a:xfrm>
            <a:off x="6492240" y="4526280"/>
            <a:ext cx="4434840" cy="384048"/>
          </a:xfrm>
          <a:prstGeom prst="rect">
            <a:avLst/>
          </a:prstGeom>
          <a:noFill/>
        </p:spPr>
        <p:txBody>
          <a:bodyPr wrap="square" lIns="73152" tIns="36576" rIns="73152" bIns="36576" anchor="ctr">
            <a:spAutoFit/>
          </a:bodyPr>
          <a:lstStyle/>
          <a:p>
            <a:pPr algn="r"/>
            <a:r>
              <a:rPr sz="1300" b="1">
                <a:solidFill>
                  <a:srgbClr val="147E8B"/>
                </a:solidFill>
                <a:latin typeface="Aptos"/>
              </a:rPr>
              <a:t>ﻩﺪﻌﺑﻭ ﻂﺑﺮﻟﺍ ﻞﺒﻗ ﺎﻔﺻ 456,548</a:t>
            </a:r>
          </a:p>
        </p:txBody>
      </p:sp>
      <p:sp>
        <p:nvSpPr>
          <p:cNvPr id="36" name="TextBox 35"/>
          <p:cNvSpPr txBox="1"/>
          <p:nvPr/>
        </p:nvSpPr>
        <p:spPr>
          <a:xfrm>
            <a:off x="6492240" y="5029200"/>
            <a:ext cx="4434840" cy="384048"/>
          </a:xfrm>
          <a:prstGeom prst="rect">
            <a:avLst/>
          </a:prstGeom>
          <a:noFill/>
        </p:spPr>
        <p:txBody>
          <a:bodyPr wrap="square" lIns="73152" tIns="36576" rIns="73152" bIns="36576" anchor="ctr">
            <a:spAutoFit/>
          </a:bodyPr>
          <a:lstStyle/>
          <a:p>
            <a:pPr algn="r"/>
            <a:r>
              <a:rPr sz="1300" b="1">
                <a:solidFill>
                  <a:srgbClr val="147E8B"/>
                </a:solidFill>
                <a:latin typeface="Aptos"/>
              </a:rPr>
              <a:t>ﻩﺪﻌﺑﻭ ﻂﺑﺮﻟﺍ ﻞﺒﻗ ﺎﺒﻠﻃ 119,557,485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ﺀﺍﺩﻷﺍ ﺕﺍﺮﺷﺆﻣ | 03</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ﺓﺪﺣﺍﻭ ﺔﺣﻮﻟ ﻲﻓ ﺐﻠﻄﻟﺍ ﺺﺨﻠﻣ</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.ﺎﺤﺑﺭ ﺲﻴﻟﻭ ﻱﺮﻳﺪﻘﺗ ﺩﺍﺮﻳﻹﺍ ؛ﺐﻳﺭﺪﺘﻟﺍ ﺕﻼﺠﺳ ﻰﻠﻋ ﺔﺑﻮﺴﺤﻣ ﺕﺍﺮﺷﺆﻤﻟﺍ</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6 ﺮﺘﻓﺪﻟﺍ ﺔﻴﻠﺧ  •  04  |  ﺕﺎﺒﺟﻮﻟﺍ ﻰﻠﻋ ﺐﻠﻄﻟﺍ ﻞﻴﻠﺤﺗ</a:t>
            </a:r>
          </a:p>
        </p:txBody>
      </p:sp>
      <p:sp>
        <p:nvSpPr>
          <p:cNvPr id="7" name="Rounded Rectangle 6"/>
          <p:cNvSpPr/>
          <p:nvPr/>
        </p:nvSpPr>
        <p:spPr>
          <a:xfrm>
            <a:off x="777240" y="182880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1868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194767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119.56M</a:t>
            </a:r>
          </a:p>
        </p:txBody>
      </p:sp>
      <p:sp>
        <p:nvSpPr>
          <p:cNvPr id="10" name="TextBox 9"/>
          <p:cNvSpPr txBox="1"/>
          <p:nvPr/>
        </p:nvSpPr>
        <p:spPr>
          <a:xfrm>
            <a:off x="923544" y="239572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ﺕﺎﺒﻠﻄﻟﺍ ﻲﻟﺎﻤﺟﺇ</a:t>
            </a:r>
          </a:p>
        </p:txBody>
      </p:sp>
      <p:sp>
        <p:nvSpPr>
          <p:cNvPr id="11" name="TextBox 10"/>
          <p:cNvSpPr txBox="1"/>
          <p:nvPr/>
        </p:nvSpPr>
        <p:spPr>
          <a:xfrm>
            <a:off x="923544" y="2679192"/>
            <a:ext cx="2167128" cy="201168"/>
          </a:xfrm>
          <a:prstGeom prst="rect">
            <a:avLst/>
          </a:prstGeom>
          <a:noFill/>
        </p:spPr>
        <p:txBody>
          <a:bodyPr wrap="square" lIns="73152" tIns="36576" rIns="73152" bIns="36576" anchor="ctr">
            <a:spAutoFit/>
          </a:bodyPr>
          <a:lstStyle/>
          <a:p>
            <a:pPr algn="r"/>
            <a:r>
              <a:rPr sz="900" b="0">
                <a:solidFill>
                  <a:srgbClr val="637480"/>
                </a:solidFill>
                <a:latin typeface="Aptos"/>
              </a:rPr>
              <a:t>ﺎﻋﻮﺒﺳﺃ 145</a:t>
            </a:r>
          </a:p>
        </p:txBody>
      </p:sp>
      <p:sp>
        <p:nvSpPr>
          <p:cNvPr id="12" name="Rounded Rectangle 11"/>
          <p:cNvSpPr/>
          <p:nvPr/>
        </p:nvSpPr>
        <p:spPr>
          <a:xfrm>
            <a:off x="3474720" y="182880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1616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21024" y="194767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824,534</a:t>
            </a:r>
          </a:p>
        </p:txBody>
      </p:sp>
      <p:sp>
        <p:nvSpPr>
          <p:cNvPr id="15" name="TextBox 14"/>
          <p:cNvSpPr txBox="1"/>
          <p:nvPr/>
        </p:nvSpPr>
        <p:spPr>
          <a:xfrm>
            <a:off x="3621024" y="239572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ﻲﻋﻮﺒﺳﻷﺍ ﺐﻠﻄﻟﺍ ﻂﺳﻮﺘﻣ</a:t>
            </a:r>
          </a:p>
        </p:txBody>
      </p:sp>
      <p:sp>
        <p:nvSpPr>
          <p:cNvPr id="16" name="Rounded Rectangle 15"/>
          <p:cNvSpPr/>
          <p:nvPr/>
        </p:nvSpPr>
        <p:spPr>
          <a:xfrm>
            <a:off x="6172200" y="182880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1364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18504" y="194767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33.9%</a:t>
            </a:r>
          </a:p>
        </p:txBody>
      </p:sp>
      <p:sp>
        <p:nvSpPr>
          <p:cNvPr id="19" name="TextBox 18"/>
          <p:cNvSpPr txBox="1"/>
          <p:nvPr/>
        </p:nvSpPr>
        <p:spPr>
          <a:xfrm>
            <a:off x="6318504" y="239572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ﺕﺎﺑﻭﺮﺸﻤﻟﺍ ﺔﺼﺣ</a:t>
            </a:r>
          </a:p>
        </p:txBody>
      </p:sp>
      <p:sp>
        <p:nvSpPr>
          <p:cNvPr id="20" name="TextBox 19"/>
          <p:cNvSpPr txBox="1"/>
          <p:nvPr/>
        </p:nvSpPr>
        <p:spPr>
          <a:xfrm>
            <a:off x="6318504" y="2679192"/>
            <a:ext cx="2167128" cy="201168"/>
          </a:xfrm>
          <a:prstGeom prst="rect">
            <a:avLst/>
          </a:prstGeom>
          <a:noFill/>
        </p:spPr>
        <p:txBody>
          <a:bodyPr wrap="square" lIns="73152" tIns="36576" rIns="73152" bIns="36576" anchor="ctr">
            <a:spAutoFit/>
          </a:bodyPr>
          <a:lstStyle/>
          <a:p>
            <a:pPr algn="r"/>
            <a:r>
              <a:rPr sz="900" b="0">
                <a:solidFill>
                  <a:srgbClr val="637480"/>
                </a:solidFill>
                <a:latin typeface="Aptos"/>
              </a:rPr>
              <a:t>ﻞﺠﺴﻤﻟﺍ ﺐﻠﻄﻟﺍ ﻦﻣ</a:t>
            </a:r>
          </a:p>
        </p:txBody>
      </p:sp>
      <p:sp>
        <p:nvSpPr>
          <p:cNvPr id="21" name="Rounded Rectangle 20"/>
          <p:cNvSpPr/>
          <p:nvPr/>
        </p:nvSpPr>
        <p:spPr>
          <a:xfrm>
            <a:off x="8869680" y="1828800"/>
            <a:ext cx="25146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131112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15984" y="1947672"/>
            <a:ext cx="2167128" cy="438912"/>
          </a:xfrm>
          <a:prstGeom prst="rect">
            <a:avLst/>
          </a:prstGeom>
          <a:noFill/>
        </p:spPr>
        <p:txBody>
          <a:bodyPr wrap="square" lIns="73152" tIns="36576" rIns="73152" bIns="36576" anchor="ctr">
            <a:spAutoFit/>
          </a:bodyPr>
          <a:lstStyle/>
          <a:p>
            <a:pPr algn="r"/>
            <a:r>
              <a:rPr sz="2500" b="1">
                <a:solidFill>
                  <a:srgbClr val="122A3E"/>
                </a:solidFill>
                <a:latin typeface="Aptos"/>
              </a:rPr>
              <a:t>51 ﻦﻣ 22</a:t>
            </a:r>
          </a:p>
        </p:txBody>
      </p:sp>
      <p:sp>
        <p:nvSpPr>
          <p:cNvPr id="24" name="TextBox 23"/>
          <p:cNvSpPr txBox="1"/>
          <p:nvPr/>
        </p:nvSpPr>
        <p:spPr>
          <a:xfrm>
            <a:off x="9015984" y="2395728"/>
            <a:ext cx="2167128" cy="292608"/>
          </a:xfrm>
          <a:prstGeom prst="rect">
            <a:avLst/>
          </a:prstGeom>
          <a:noFill/>
        </p:spPr>
        <p:txBody>
          <a:bodyPr wrap="square" lIns="73152" tIns="36576" rIns="73152" bIns="36576" anchor="ctr">
            <a:spAutoFit/>
          </a:bodyPr>
          <a:lstStyle/>
          <a:p>
            <a:pPr algn="r"/>
            <a:r>
              <a:rPr sz="1200" b="1">
                <a:solidFill>
                  <a:srgbClr val="293945"/>
                </a:solidFill>
                <a:latin typeface="Aptos"/>
              </a:rPr>
              <a:t>%80 ﻍﻮﻠﺒﻟ ﺔﺒﺟﻭ</a:t>
            </a:r>
          </a:p>
        </p:txBody>
      </p:sp>
      <p:sp>
        <p:nvSpPr>
          <p:cNvPr id="25" name="TextBox 24"/>
          <p:cNvSpPr txBox="1"/>
          <p:nvPr/>
        </p:nvSpPr>
        <p:spPr>
          <a:xfrm>
            <a:off x="9015984" y="2679192"/>
            <a:ext cx="2167128" cy="201168"/>
          </a:xfrm>
          <a:prstGeom prst="rect">
            <a:avLst/>
          </a:prstGeom>
          <a:noFill/>
        </p:spPr>
        <p:txBody>
          <a:bodyPr wrap="square" lIns="73152" tIns="36576" rIns="73152" bIns="36576" anchor="ctr">
            <a:spAutoFit/>
          </a:bodyPr>
          <a:lstStyle/>
          <a:p>
            <a:pPr algn="r"/>
            <a:r>
              <a:rPr sz="900" b="0">
                <a:solidFill>
                  <a:srgbClr val="637480"/>
                </a:solidFill>
                <a:latin typeface="Aptos"/>
              </a:rPr>
              <a:t>ﺎﻴﻤﻛﺍﺮﺗ ﺐﻠﻄﻟﺍ ﻦﻣ</a:t>
            </a:r>
          </a:p>
        </p:txBody>
      </p:sp>
      <p:sp>
        <p:nvSpPr>
          <p:cNvPr id="26" name="Rounded Rectangle 25"/>
          <p:cNvSpPr/>
          <p:nvPr/>
        </p:nvSpPr>
        <p:spPr>
          <a:xfrm>
            <a:off x="777240" y="3474720"/>
            <a:ext cx="10607040" cy="2178828"/>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51560" y="3703320"/>
            <a:ext cx="9784080" cy="329184"/>
          </a:xfrm>
          <a:prstGeom prst="rect">
            <a:avLst/>
          </a:prstGeom>
          <a:noFill/>
        </p:spPr>
        <p:txBody>
          <a:bodyPr wrap="square" lIns="73152" tIns="36576" rIns="73152" bIns="36576" anchor="ctr">
            <a:spAutoFit/>
          </a:bodyPr>
          <a:lstStyle/>
          <a:p>
            <a:pPr algn="r"/>
            <a:r>
              <a:rPr sz="1600" b="1">
                <a:solidFill>
                  <a:srgbClr val="122A3E"/>
                </a:solidFill>
                <a:latin typeface="Aptos"/>
              </a:rPr>
              <a:t>؟ﺕﺍﺮﺷﺆﻤﻟﺍ ﻲﻓ ﻞﺧﺪﻳ ﺍﺫﺎﻣ</a:t>
            </a:r>
          </a:p>
        </p:txBody>
      </p:sp>
      <p:sp>
        <p:nvSpPr>
          <p:cNvPr id="28" name="Oval 27"/>
          <p:cNvSpPr/>
          <p:nvPr/>
        </p:nvSpPr>
        <p:spPr>
          <a:xfrm>
            <a:off x="10771632" y="43251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4160520"/>
            <a:ext cx="9692640" cy="420624"/>
          </a:xfrm>
          <a:prstGeom prst="rect">
            <a:avLst/>
          </a:prstGeom>
          <a:noFill/>
        </p:spPr>
        <p:txBody>
          <a:bodyPr wrap="square" lIns="73152" tIns="36576" rIns="73152" bIns="36576" anchor="ctr">
            <a:spAutoFit/>
          </a:bodyPr>
          <a:lstStyle/>
          <a:p>
            <a:pPr algn="r"/>
            <a:r>
              <a:rPr sz="1300" b="0">
                <a:solidFill>
                  <a:srgbClr val="293945"/>
                </a:solidFill>
                <a:latin typeface="Aptos"/>
              </a:rPr>
              <a:t>.ﻞﻴﻐﺸﺘﻟﺍ ﻭﺃ ﺩﺍﻮﻤﻟﺍ ﻒﻴﻟﺎﻜﺗ ﻞﻤﺸﻳ ﻻ ؛ﺕﺎﺒﻠﻄﻟﺍ × ﻊﻴﺒﻟﺍ ﺮﻌﺳ = ﻱﺮﻳﺪﻘﺘﻟﺍ ﺩﺍﺮﻳﻹﺍ</a:t>
            </a:r>
          </a:p>
        </p:txBody>
      </p:sp>
      <p:sp>
        <p:nvSpPr>
          <p:cNvPr id="30" name="Oval 29"/>
          <p:cNvSpPr/>
          <p:nvPr/>
        </p:nvSpPr>
        <p:spPr>
          <a:xfrm>
            <a:off x="10771632" y="47823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05840" y="4617720"/>
            <a:ext cx="9692640" cy="420624"/>
          </a:xfrm>
          <a:prstGeom prst="rect">
            <a:avLst/>
          </a:prstGeom>
          <a:noFill/>
        </p:spPr>
        <p:txBody>
          <a:bodyPr wrap="square" lIns="73152" tIns="36576" rIns="73152" bIns="36576" anchor="ctr">
            <a:spAutoFit/>
          </a:bodyPr>
          <a:lstStyle/>
          <a:p>
            <a:pPr algn="r"/>
            <a:r>
              <a:rPr sz="1300" b="0">
                <a:solidFill>
                  <a:srgbClr val="293945"/>
                </a:solidFill>
                <a:latin typeface="Aptos"/>
              </a:rPr>
              <a:t>.ﺔﺒﻟﺎﺳ ﺔﺒﺴﻨﻟﺍ ﻥﻮﻜﺗ ﺪﻗ ؛ﻲﺳﺎﺳﻷﺍ ﺮﻌﺴﻟﺍ ÷ (ﻊﻴﺒﻟﺍ ﺮﻌﺳ − ﻲﺳﺎﺳﻷﺍ ﺮﻌﺴﻟﺍ) = ﻢﺼﺨﻟﺍ</a:t>
            </a:r>
          </a:p>
        </p:txBody>
      </p:sp>
      <p:sp>
        <p:nvSpPr>
          <p:cNvPr id="32" name="Oval 31"/>
          <p:cNvSpPr/>
          <p:nvPr/>
        </p:nvSpPr>
        <p:spPr>
          <a:xfrm>
            <a:off x="10771632" y="52395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5074920"/>
            <a:ext cx="9692640" cy="420624"/>
          </a:xfrm>
          <a:prstGeom prst="rect">
            <a:avLst/>
          </a:prstGeom>
          <a:noFill/>
        </p:spPr>
        <p:txBody>
          <a:bodyPr wrap="square" lIns="73152" tIns="36576" rIns="73152" bIns="36576" anchor="ctr">
            <a:spAutoFit/>
          </a:bodyPr>
          <a:lstStyle/>
          <a:p>
            <a:pPr algn="r"/>
            <a:r>
              <a:rPr sz="1300" b="0">
                <a:solidFill>
                  <a:srgbClr val="293945"/>
                </a:solidFill>
                <a:latin typeface="Aptos"/>
              </a:rPr>
              <a:t>.ﻲﺒﺒﺴﻟﺍ ﺎﻤﻫﺮﺛﺃ ﻻ ،ﺔﺤﻔﺼﻟﺍ ﻰﻠﻋ ﺭﻮﻬﻈﻟﺍ ﻭﺃ ﺪﻳﺮﺒﻟﺍ ﺩﻮﺟﻭ ﻞﺠﺴﻳ ﺞﻳﻭﺮﺘﻟﺍ ﺮﺷﺆﻣ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ﻲﻋﻮﺒﺳﻷﺍ ﻩﺎﺠﺗﻻﺍ — 1 ﻝﺍﺆﺴﻟﺍ | 04</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ﻊﻴﺑﺎﺳﻷﺍ ﻦﻴﺑ ﺡﻮﺿﻮﺑ ﺐﻠﻘﺘﻳ ﺐﻠﻄﻟﺍ</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.ﺔﻴﻤﻳﻮﻘﺗ ﺦﻳﺭﺍﻮﺗ ﺖﺴﻴﻟ ﻊﻴﺑﺎﺳﻷﺍ ﻡﺎﻗﺭﺃ ؛ﻉﻮﺒﺳﺃ ﻞﻛ ﻲﻓ ﺔﻠﺠﺴﻤﻟﺍ ﺕﺎﺒﻠﻄﻟﺍ ﻉﻮﻤﺠﻣ ﻞﺜﻤﻳ ﻂﺨﻟﺍ</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7 ﺮﺘﻓﺪﻟﺍ ﺔﻴﻠﺧ  •  05  |  ﺕﺎﺒﺟﻮﻟﺍ ﻰﻠﻋ ﺐﻠﻄﻟﺍ ﻞﻴﻠﺤﺗ</a:t>
            </a:r>
          </a:p>
        </p:txBody>
      </p:sp>
      <p:sp>
        <p:nvSpPr>
          <p:cNvPr id="7" name="Rounded Rectangle 6"/>
          <p:cNvSpPr/>
          <p:nvPr/>
        </p:nvSpPr>
        <p:spPr>
          <a:xfrm>
            <a:off x="731520" y="1737360"/>
            <a:ext cx="7360920" cy="43434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1_weekly_demand.png"/>
          <p:cNvPicPr>
            <a:picLocks noChangeAspect="1"/>
          </p:cNvPicPr>
          <p:nvPr/>
        </p:nvPicPr>
        <p:blipFill>
          <a:blip r:embed="rId3"/>
          <a:stretch>
            <a:fillRect/>
          </a:stretch>
        </p:blipFill>
        <p:spPr>
          <a:xfrm>
            <a:off x="960120" y="1994902"/>
            <a:ext cx="6903720" cy="3736875"/>
          </a:xfrm>
          <a:prstGeom prst="rect">
            <a:avLst/>
          </a:prstGeom>
        </p:spPr>
      </p:pic>
      <p:sp>
        <p:nvSpPr>
          <p:cNvPr id="9" name="Rounded Rectangle 8"/>
          <p:cNvSpPr/>
          <p:nvPr/>
        </p:nvSpPr>
        <p:spPr>
          <a:xfrm>
            <a:off x="8366760" y="1920240"/>
            <a:ext cx="288036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173968" y="2066544"/>
            <a:ext cx="32004" cy="841248"/>
          </a:xfrm>
          <a:prstGeom prst="rect">
            <a:avLst/>
          </a:prstGeom>
          <a:solidFill>
            <a:srgbClr val="DF9D3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13064" y="2039112"/>
            <a:ext cx="2532888" cy="438912"/>
          </a:xfrm>
          <a:prstGeom prst="rect">
            <a:avLst/>
          </a:prstGeom>
          <a:noFill/>
        </p:spPr>
        <p:txBody>
          <a:bodyPr wrap="square" lIns="73152" tIns="36576" rIns="73152" bIns="36576" anchor="ctr">
            <a:spAutoFit/>
          </a:bodyPr>
          <a:lstStyle/>
          <a:p>
            <a:pPr algn="r"/>
            <a:r>
              <a:rPr sz="2500" b="1">
                <a:solidFill>
                  <a:srgbClr val="122A3E"/>
                </a:solidFill>
                <a:latin typeface="Aptos"/>
              </a:rPr>
              <a:t>1.30M</a:t>
            </a:r>
          </a:p>
        </p:txBody>
      </p:sp>
      <p:sp>
        <p:nvSpPr>
          <p:cNvPr id="12" name="TextBox 11"/>
          <p:cNvSpPr txBox="1"/>
          <p:nvPr/>
        </p:nvSpPr>
        <p:spPr>
          <a:xfrm>
            <a:off x="8513064" y="2487168"/>
            <a:ext cx="2532888" cy="292608"/>
          </a:xfrm>
          <a:prstGeom prst="rect">
            <a:avLst/>
          </a:prstGeom>
          <a:noFill/>
        </p:spPr>
        <p:txBody>
          <a:bodyPr wrap="square" lIns="73152" tIns="36576" rIns="73152" bIns="36576" anchor="ctr">
            <a:spAutoFit/>
          </a:bodyPr>
          <a:lstStyle/>
          <a:p>
            <a:pPr algn="r"/>
            <a:r>
              <a:rPr sz="1200" b="1">
                <a:solidFill>
                  <a:srgbClr val="293945"/>
                </a:solidFill>
                <a:latin typeface="Aptos"/>
              </a:rPr>
              <a:t>ﻉﻮﺒﺳﺃ ﻰﻠﻋﺃ</a:t>
            </a:r>
          </a:p>
        </p:txBody>
      </p:sp>
      <p:sp>
        <p:nvSpPr>
          <p:cNvPr id="13" name="TextBox 12"/>
          <p:cNvSpPr txBox="1"/>
          <p:nvPr/>
        </p:nvSpPr>
        <p:spPr>
          <a:xfrm>
            <a:off x="8513064" y="2770632"/>
            <a:ext cx="2532888" cy="201168"/>
          </a:xfrm>
          <a:prstGeom prst="rect">
            <a:avLst/>
          </a:prstGeom>
          <a:noFill/>
        </p:spPr>
        <p:txBody>
          <a:bodyPr wrap="square" lIns="73152" tIns="36576" rIns="73152" bIns="36576" anchor="ctr">
            <a:spAutoFit/>
          </a:bodyPr>
          <a:lstStyle/>
          <a:p>
            <a:pPr algn="r"/>
            <a:r>
              <a:rPr sz="900" b="0">
                <a:solidFill>
                  <a:srgbClr val="637480"/>
                </a:solidFill>
                <a:latin typeface="Aptos"/>
              </a:rPr>
              <a:t>48 ﻉﻮﺒﺳﻷﺍ</a:t>
            </a:r>
          </a:p>
        </p:txBody>
      </p:sp>
      <p:sp>
        <p:nvSpPr>
          <p:cNvPr id="14" name="Rounded Rectangle 13"/>
          <p:cNvSpPr/>
          <p:nvPr/>
        </p:nvSpPr>
        <p:spPr>
          <a:xfrm>
            <a:off x="8366760" y="3383280"/>
            <a:ext cx="288036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173968" y="352958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13064" y="3502152"/>
            <a:ext cx="2532888" cy="438912"/>
          </a:xfrm>
          <a:prstGeom prst="rect">
            <a:avLst/>
          </a:prstGeom>
          <a:noFill/>
        </p:spPr>
        <p:txBody>
          <a:bodyPr wrap="square" lIns="73152" tIns="36576" rIns="73152" bIns="36576" anchor="ctr">
            <a:spAutoFit/>
          </a:bodyPr>
          <a:lstStyle/>
          <a:p>
            <a:pPr algn="r"/>
            <a:r>
              <a:rPr sz="2500" b="1">
                <a:solidFill>
                  <a:srgbClr val="122A3E"/>
                </a:solidFill>
                <a:latin typeface="Aptos"/>
              </a:rPr>
              <a:t>380,065</a:t>
            </a:r>
          </a:p>
        </p:txBody>
      </p:sp>
      <p:sp>
        <p:nvSpPr>
          <p:cNvPr id="17" name="TextBox 16"/>
          <p:cNvSpPr txBox="1"/>
          <p:nvPr/>
        </p:nvSpPr>
        <p:spPr>
          <a:xfrm>
            <a:off x="8513064" y="3950208"/>
            <a:ext cx="2532888" cy="292608"/>
          </a:xfrm>
          <a:prstGeom prst="rect">
            <a:avLst/>
          </a:prstGeom>
          <a:noFill/>
        </p:spPr>
        <p:txBody>
          <a:bodyPr wrap="square" lIns="73152" tIns="36576" rIns="73152" bIns="36576" anchor="ctr">
            <a:spAutoFit/>
          </a:bodyPr>
          <a:lstStyle/>
          <a:p>
            <a:pPr algn="r"/>
            <a:r>
              <a:rPr sz="1200" b="1">
                <a:solidFill>
                  <a:srgbClr val="293945"/>
                </a:solidFill>
                <a:latin typeface="Aptos"/>
              </a:rPr>
              <a:t>ﻉﻮﺒﺳﺃ ﻰﻧﺩﺃ</a:t>
            </a:r>
          </a:p>
        </p:txBody>
      </p:sp>
      <p:sp>
        <p:nvSpPr>
          <p:cNvPr id="18" name="TextBox 17"/>
          <p:cNvSpPr txBox="1"/>
          <p:nvPr/>
        </p:nvSpPr>
        <p:spPr>
          <a:xfrm>
            <a:off x="8513064" y="4233672"/>
            <a:ext cx="2532888" cy="201168"/>
          </a:xfrm>
          <a:prstGeom prst="rect">
            <a:avLst/>
          </a:prstGeom>
          <a:noFill/>
        </p:spPr>
        <p:txBody>
          <a:bodyPr wrap="square" lIns="73152" tIns="36576" rIns="73152" bIns="36576" anchor="ctr">
            <a:spAutoFit/>
          </a:bodyPr>
          <a:lstStyle/>
          <a:p>
            <a:pPr algn="r"/>
            <a:r>
              <a:rPr sz="900" b="0">
                <a:solidFill>
                  <a:srgbClr val="637480"/>
                </a:solidFill>
                <a:latin typeface="Aptos"/>
              </a:rPr>
              <a:t>62 ﻉﻮﺒﺳﻷﺍ</a:t>
            </a:r>
          </a:p>
        </p:txBody>
      </p:sp>
      <p:sp>
        <p:nvSpPr>
          <p:cNvPr id="19" name="Rounded Rectangle 18"/>
          <p:cNvSpPr/>
          <p:nvPr/>
        </p:nvSpPr>
        <p:spPr>
          <a:xfrm>
            <a:off x="8366760" y="4846320"/>
            <a:ext cx="2880360" cy="105156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49640" y="5047488"/>
            <a:ext cx="2514600" cy="594360"/>
          </a:xfrm>
          <a:prstGeom prst="rect">
            <a:avLst/>
          </a:prstGeom>
          <a:noFill/>
        </p:spPr>
        <p:txBody>
          <a:bodyPr wrap="square" lIns="73152" tIns="36576" rIns="73152" bIns="36576" anchor="ctr">
            <a:spAutoFit/>
          </a:bodyPr>
          <a:lstStyle/>
          <a:p>
            <a:pPr algn="r"/>
            <a:r>
              <a:rPr sz="1300" b="1">
                <a:solidFill>
                  <a:srgbClr val="122A3E"/>
                </a:solidFill>
                <a:latin typeface="Aptos"/>
              </a:rPr>
              <a:t>ﻰﻧﺩﻷﺍ ﻕﻮﻓ %243 ≈ ﻰﻠﻋﻷﺍ</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؟ﺐﻠﻄﻟﺍ ﺰﻛﺮﺘﻳ ﻦﻳﺃ — 2 ﻝﺍﺆﺴﻟﺍ | 05</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ﺕﺎﺒﺟﻭ ﺔﻋﻮﻤﺠﻣ ﻲﻓ ﺰﻛﺮﺘﻳ ﺐﻠﻄﻟﺍﻭ ؛ﺕﺎﺌﻔﻟﺍ ﺩﻮﻘﺗ ﺕﺎﺑﻭﺮﺸﻤﻟﺍ</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.ﺶﻣﺎﻬﻟﺍ ﻭﺃ ﺔﻴﺤﺑﺮﻟﺍ ﻰﻠﻋ ﻻ ،ﺐﻠﻄﻟﺍ ﻉﻮﻤﺠﻣ ﻰﻠﻋ ﻲﻨﺒﻣ ﺐﻴﺗﺮﺘﻟﺍ</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8 ﺮﺘﻓﺪﻟﺍ ﺔﻴﻠﺧ  •  06  |  ﺕﺎﺒﺟﻮﻟﺍ ﻰﻠﻋ ﺐﻠﻄﻟﺍ ﻞﻴﻠﺤﺗ</a:t>
            </a:r>
          </a:p>
        </p:txBody>
      </p:sp>
      <p:sp>
        <p:nvSpPr>
          <p:cNvPr id="7" name="Rounded Rectangle 6"/>
          <p:cNvSpPr/>
          <p:nvPr/>
        </p:nvSpPr>
        <p:spPr>
          <a:xfrm>
            <a:off x="731520" y="1737360"/>
            <a:ext cx="6812280" cy="43434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2_demand_by_category.png"/>
          <p:cNvPicPr>
            <a:picLocks noChangeAspect="1"/>
          </p:cNvPicPr>
          <p:nvPr/>
        </p:nvPicPr>
        <p:blipFill>
          <a:blip r:embed="rId3"/>
          <a:stretch>
            <a:fillRect/>
          </a:stretch>
        </p:blipFill>
        <p:spPr>
          <a:xfrm>
            <a:off x="960120" y="2143387"/>
            <a:ext cx="6355080" cy="3439905"/>
          </a:xfrm>
          <a:prstGeom prst="rect">
            <a:avLst/>
          </a:prstGeom>
        </p:spPr>
      </p:pic>
      <p:sp>
        <p:nvSpPr>
          <p:cNvPr id="9" name="Rounded Rectangle 8"/>
          <p:cNvSpPr/>
          <p:nvPr/>
        </p:nvSpPr>
        <p:spPr>
          <a:xfrm>
            <a:off x="7955279" y="1828800"/>
            <a:ext cx="324612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12824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01583" y="1947672"/>
            <a:ext cx="2898648" cy="438912"/>
          </a:xfrm>
          <a:prstGeom prst="rect">
            <a:avLst/>
          </a:prstGeom>
          <a:noFill/>
        </p:spPr>
        <p:txBody>
          <a:bodyPr wrap="square" lIns="73152" tIns="36576" rIns="73152" bIns="36576" anchor="ctr">
            <a:spAutoFit/>
          </a:bodyPr>
          <a:lstStyle/>
          <a:p>
            <a:pPr algn="r"/>
            <a:r>
              <a:rPr sz="2500" b="1">
                <a:solidFill>
                  <a:srgbClr val="122A3E"/>
                </a:solidFill>
                <a:latin typeface="Aptos"/>
              </a:rPr>
              <a:t>33.9%</a:t>
            </a:r>
          </a:p>
        </p:txBody>
      </p:sp>
      <p:sp>
        <p:nvSpPr>
          <p:cNvPr id="12" name="TextBox 11"/>
          <p:cNvSpPr txBox="1"/>
          <p:nvPr/>
        </p:nvSpPr>
        <p:spPr>
          <a:xfrm>
            <a:off x="8101583" y="2395728"/>
            <a:ext cx="2898648" cy="292608"/>
          </a:xfrm>
          <a:prstGeom prst="rect">
            <a:avLst/>
          </a:prstGeom>
          <a:noFill/>
        </p:spPr>
        <p:txBody>
          <a:bodyPr wrap="square" lIns="73152" tIns="36576" rIns="73152" bIns="36576" anchor="ctr">
            <a:spAutoFit/>
          </a:bodyPr>
          <a:lstStyle/>
          <a:p>
            <a:pPr algn="r"/>
            <a:r>
              <a:rPr sz="1200" b="1">
                <a:solidFill>
                  <a:srgbClr val="293945"/>
                </a:solidFill>
                <a:latin typeface="Aptos"/>
              </a:rPr>
              <a:t>ﺕﺎﺑﻭﺮﺸﻤﻟﺍ ﺔﺌﻓ ﺔﺼﺣ</a:t>
            </a:r>
          </a:p>
        </p:txBody>
      </p:sp>
      <p:sp>
        <p:nvSpPr>
          <p:cNvPr id="13" name="TextBox 12"/>
          <p:cNvSpPr txBox="1"/>
          <p:nvPr/>
        </p:nvSpPr>
        <p:spPr>
          <a:xfrm>
            <a:off x="8101583" y="2679192"/>
            <a:ext cx="2898648" cy="201168"/>
          </a:xfrm>
          <a:prstGeom prst="rect">
            <a:avLst/>
          </a:prstGeom>
          <a:noFill/>
        </p:spPr>
        <p:txBody>
          <a:bodyPr wrap="square" lIns="73152" tIns="36576" rIns="73152" bIns="36576" anchor="ctr">
            <a:spAutoFit/>
          </a:bodyPr>
          <a:lstStyle/>
          <a:p>
            <a:pPr algn="r"/>
            <a:r>
              <a:rPr sz="900" b="0">
                <a:solidFill>
                  <a:srgbClr val="637480"/>
                </a:solidFill>
                <a:latin typeface="Aptos"/>
              </a:rPr>
              <a:t>ﻞﺠﺴﻤﻟﺍ ﺐﻠﻄﻟﺍ ﻞﻛ ﻦﻣ</a:t>
            </a:r>
          </a:p>
        </p:txBody>
      </p:sp>
      <p:sp>
        <p:nvSpPr>
          <p:cNvPr id="14" name="Rounded Rectangle 13"/>
          <p:cNvSpPr/>
          <p:nvPr/>
        </p:nvSpPr>
        <p:spPr>
          <a:xfrm>
            <a:off x="7955279" y="3246120"/>
            <a:ext cx="324612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128248" y="339242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01583" y="3364991"/>
            <a:ext cx="2898648" cy="438912"/>
          </a:xfrm>
          <a:prstGeom prst="rect">
            <a:avLst/>
          </a:prstGeom>
          <a:noFill/>
        </p:spPr>
        <p:txBody>
          <a:bodyPr wrap="square" lIns="73152" tIns="36576" rIns="73152" bIns="36576" anchor="ctr">
            <a:spAutoFit/>
          </a:bodyPr>
          <a:lstStyle/>
          <a:p>
            <a:pPr algn="r"/>
            <a:r>
              <a:rPr sz="2500" b="1">
                <a:solidFill>
                  <a:srgbClr val="122A3E"/>
                </a:solidFill>
                <a:latin typeface="Aptos"/>
              </a:rPr>
              <a:t>9.77M</a:t>
            </a:r>
          </a:p>
        </p:txBody>
      </p:sp>
      <p:sp>
        <p:nvSpPr>
          <p:cNvPr id="17" name="TextBox 16"/>
          <p:cNvSpPr txBox="1"/>
          <p:nvPr/>
        </p:nvSpPr>
        <p:spPr>
          <a:xfrm>
            <a:off x="8101583" y="3813048"/>
            <a:ext cx="2898648" cy="292608"/>
          </a:xfrm>
          <a:prstGeom prst="rect">
            <a:avLst/>
          </a:prstGeom>
          <a:noFill/>
        </p:spPr>
        <p:txBody>
          <a:bodyPr wrap="square" lIns="73152" tIns="36576" rIns="73152" bIns="36576" anchor="ctr">
            <a:spAutoFit/>
          </a:bodyPr>
          <a:lstStyle/>
          <a:p>
            <a:pPr algn="r"/>
            <a:r>
              <a:rPr sz="1200" b="1">
                <a:solidFill>
                  <a:srgbClr val="293945"/>
                </a:solidFill>
                <a:latin typeface="Aptos"/>
              </a:rPr>
              <a:t>2290 :ﻰﻠﻋﻷﺍ ﺔﺒﺟﻮﻟﺍ</a:t>
            </a:r>
          </a:p>
        </p:txBody>
      </p:sp>
      <p:sp>
        <p:nvSpPr>
          <p:cNvPr id="18" name="TextBox 17"/>
          <p:cNvSpPr txBox="1"/>
          <p:nvPr/>
        </p:nvSpPr>
        <p:spPr>
          <a:xfrm>
            <a:off x="8101583" y="4096511"/>
            <a:ext cx="2898648" cy="201168"/>
          </a:xfrm>
          <a:prstGeom prst="rect">
            <a:avLst/>
          </a:prstGeom>
          <a:noFill/>
        </p:spPr>
        <p:txBody>
          <a:bodyPr wrap="square" lIns="73152" tIns="36576" rIns="73152" bIns="36576" anchor="ctr">
            <a:spAutoFit/>
          </a:bodyPr>
          <a:lstStyle/>
          <a:p>
            <a:pPr algn="r"/>
            <a:r>
              <a:rPr sz="900" b="0">
                <a:solidFill>
                  <a:srgbClr val="637480"/>
                </a:solidFill>
                <a:latin typeface="Aptos"/>
              </a:rPr>
              <a:t>ﺔﻴﻤﻛﺍﺮﺗ ﺕﺎﺒﻠﻃ</a:t>
            </a:r>
          </a:p>
        </p:txBody>
      </p:sp>
      <p:sp>
        <p:nvSpPr>
          <p:cNvPr id="19" name="Rounded Rectangle 18"/>
          <p:cNvSpPr/>
          <p:nvPr/>
        </p:nvSpPr>
        <p:spPr>
          <a:xfrm>
            <a:off x="7955279" y="4663440"/>
            <a:ext cx="3246120" cy="118872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83879" y="4892040"/>
            <a:ext cx="2788920" cy="658368"/>
          </a:xfrm>
          <a:prstGeom prst="rect">
            <a:avLst/>
          </a:prstGeom>
          <a:noFill/>
        </p:spPr>
        <p:txBody>
          <a:bodyPr wrap="square" lIns="73152" tIns="36576" rIns="73152" bIns="36576" anchor="ctr">
            <a:spAutoFit/>
          </a:bodyPr>
          <a:lstStyle/>
          <a:p>
            <a:pPr algn="r"/>
            <a:r>
              <a:rPr sz="1400" b="1">
                <a:solidFill>
                  <a:srgbClr val="122A3E"/>
                </a:solidFill>
                <a:latin typeface="Aptos"/>
              </a:rPr>
              <a:t>ﺐﻠﻄﻟﺍ ﻦﻣ %80 ﻞﺜﻤﺗ 51 ﻦﻣ ﺔﺒﺟﻭ 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ﺰﻛﺍﺮﻤﻟﺍ — 3 ﻝﺍﺆﺴﻟﺍ | 06</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ﺄﻔﻛﺃ ﺰﻛﺮﻤﻟﺍ ﻥﺃ ﻲﻨﻌﻳ ﻻ ﻩﺪﺣﻭ ﺐﻠﻄﻟﺍ ﻲﻟﺎﻤﺟﺇ</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.ﻊﻴﻣﺎﺠﻤﻟﺍ ﺓﺀﺍﺮﻗ ﻲﻓ ﻥﻭﺮﺛﺆﻳ ﻪﺘﻴﻄﻐﺗﻭ ﻪﻤﺠﺣﻭ ﺰﻛﺮﻤﻟﺍ ﻉﻮﻧ</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9 ﺮﺘﻓﺪﻟﺍ ﺔﻴﻠﺧ  •  07  |  ﺕﺎﺒﺟﻮﻟﺍ ﻰﻠﻋ ﺐﻠﻄﻟﺍ ﻞﻴﻠﺤﺗ</a:t>
            </a:r>
          </a:p>
        </p:txBody>
      </p:sp>
      <p:sp>
        <p:nvSpPr>
          <p:cNvPr id="7" name="Rounded Rectangle 6"/>
          <p:cNvSpPr/>
          <p:nvPr/>
        </p:nvSpPr>
        <p:spPr>
          <a:xfrm>
            <a:off x="731520" y="1737360"/>
            <a:ext cx="6812280" cy="43434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3_center_type.png"/>
          <p:cNvPicPr>
            <a:picLocks noChangeAspect="1"/>
          </p:cNvPicPr>
          <p:nvPr/>
        </p:nvPicPr>
        <p:blipFill>
          <a:blip r:embed="rId3"/>
          <a:stretch>
            <a:fillRect/>
          </a:stretch>
        </p:blipFill>
        <p:spPr>
          <a:xfrm>
            <a:off x="960120" y="2143387"/>
            <a:ext cx="6355080" cy="3439905"/>
          </a:xfrm>
          <a:prstGeom prst="rect">
            <a:avLst/>
          </a:prstGeom>
        </p:spPr>
      </p:pic>
      <p:sp>
        <p:nvSpPr>
          <p:cNvPr id="9" name="Rounded Rectangle 8"/>
          <p:cNvSpPr/>
          <p:nvPr/>
        </p:nvSpPr>
        <p:spPr>
          <a:xfrm>
            <a:off x="7955279" y="1828800"/>
            <a:ext cx="324612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12824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01583" y="1947672"/>
            <a:ext cx="2898648" cy="438912"/>
          </a:xfrm>
          <a:prstGeom prst="rect">
            <a:avLst/>
          </a:prstGeom>
          <a:noFill/>
        </p:spPr>
        <p:txBody>
          <a:bodyPr wrap="square" lIns="73152" tIns="36576" rIns="73152" bIns="36576" anchor="ctr">
            <a:spAutoFit/>
          </a:bodyPr>
          <a:lstStyle/>
          <a:p>
            <a:pPr algn="r"/>
            <a:r>
              <a:rPr sz="2500" b="1">
                <a:solidFill>
                  <a:srgbClr val="122A3E"/>
                </a:solidFill>
                <a:latin typeface="Aptos"/>
              </a:rPr>
              <a:t>4.30M</a:t>
            </a:r>
          </a:p>
        </p:txBody>
      </p:sp>
      <p:sp>
        <p:nvSpPr>
          <p:cNvPr id="12" name="TextBox 11"/>
          <p:cNvSpPr txBox="1"/>
          <p:nvPr/>
        </p:nvSpPr>
        <p:spPr>
          <a:xfrm>
            <a:off x="8101583" y="2395728"/>
            <a:ext cx="2898648" cy="292608"/>
          </a:xfrm>
          <a:prstGeom prst="rect">
            <a:avLst/>
          </a:prstGeom>
          <a:noFill/>
        </p:spPr>
        <p:txBody>
          <a:bodyPr wrap="square" lIns="73152" tIns="36576" rIns="73152" bIns="36576" anchor="ctr">
            <a:spAutoFit/>
          </a:bodyPr>
          <a:lstStyle/>
          <a:p>
            <a:pPr algn="r"/>
            <a:r>
              <a:rPr sz="1200" b="1">
                <a:solidFill>
                  <a:srgbClr val="293945"/>
                </a:solidFill>
                <a:latin typeface="Aptos"/>
              </a:rPr>
              <a:t>13 :ﺰﻛﺮﻣ ﻰﻠﻋﺃ</a:t>
            </a:r>
          </a:p>
        </p:txBody>
      </p:sp>
      <p:sp>
        <p:nvSpPr>
          <p:cNvPr id="13" name="TextBox 12"/>
          <p:cNvSpPr txBox="1"/>
          <p:nvPr/>
        </p:nvSpPr>
        <p:spPr>
          <a:xfrm>
            <a:off x="8101583" y="2679192"/>
            <a:ext cx="2898648" cy="201168"/>
          </a:xfrm>
          <a:prstGeom prst="rect">
            <a:avLst/>
          </a:prstGeom>
          <a:noFill/>
        </p:spPr>
        <p:txBody>
          <a:bodyPr wrap="square" lIns="73152" tIns="36576" rIns="73152" bIns="36576" anchor="ctr">
            <a:spAutoFit/>
          </a:bodyPr>
          <a:lstStyle/>
          <a:p>
            <a:pPr algn="r"/>
            <a:r>
              <a:rPr sz="900" b="0">
                <a:solidFill>
                  <a:srgbClr val="637480"/>
                </a:solidFill>
                <a:latin typeface="Aptos"/>
              </a:rPr>
              <a:t>TYPE_B</a:t>
            </a:r>
          </a:p>
        </p:txBody>
      </p:sp>
      <p:sp>
        <p:nvSpPr>
          <p:cNvPr id="14" name="Rounded Rectangle 13"/>
          <p:cNvSpPr/>
          <p:nvPr/>
        </p:nvSpPr>
        <p:spPr>
          <a:xfrm>
            <a:off x="7955279" y="3337560"/>
            <a:ext cx="3246120" cy="233172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83879" y="3566160"/>
            <a:ext cx="2743200" cy="347472"/>
          </a:xfrm>
          <a:prstGeom prst="rect">
            <a:avLst/>
          </a:prstGeom>
          <a:noFill/>
        </p:spPr>
        <p:txBody>
          <a:bodyPr wrap="square" lIns="73152" tIns="36576" rIns="73152" bIns="36576" anchor="ctr">
            <a:spAutoFit/>
          </a:bodyPr>
          <a:lstStyle/>
          <a:p>
            <a:pPr algn="r"/>
            <a:r>
              <a:rPr sz="1400" b="1">
                <a:solidFill>
                  <a:srgbClr val="122A3E"/>
                </a:solidFill>
                <a:latin typeface="Aptos"/>
              </a:rPr>
              <a:t>ﻞﺠﺳ ﻞﻜﻟ ﺐﻠﻄﻟﺍ ﻂﺳﻮﺘﻣ</a:t>
            </a:r>
          </a:p>
        </p:txBody>
      </p:sp>
      <p:sp>
        <p:nvSpPr>
          <p:cNvPr id="16" name="TextBox 15"/>
          <p:cNvSpPr txBox="1"/>
          <p:nvPr/>
        </p:nvSpPr>
        <p:spPr>
          <a:xfrm>
            <a:off x="8183879" y="4114800"/>
            <a:ext cx="2743200" cy="310896"/>
          </a:xfrm>
          <a:prstGeom prst="rect">
            <a:avLst/>
          </a:prstGeom>
          <a:noFill/>
        </p:spPr>
        <p:txBody>
          <a:bodyPr wrap="square" lIns="73152" tIns="36576" rIns="73152" bIns="36576" anchor="ctr">
            <a:spAutoFit/>
          </a:bodyPr>
          <a:lstStyle/>
          <a:p>
            <a:pPr algn="r"/>
            <a:r>
              <a:rPr sz="1300" b="0">
                <a:solidFill>
                  <a:srgbClr val="293945"/>
                </a:solidFill>
                <a:latin typeface="Aptos"/>
              </a:rPr>
              <a:t>TYPE_A     262</a:t>
            </a:r>
          </a:p>
        </p:txBody>
      </p:sp>
      <p:sp>
        <p:nvSpPr>
          <p:cNvPr id="17" name="TextBox 16"/>
          <p:cNvSpPr txBox="1"/>
          <p:nvPr/>
        </p:nvSpPr>
        <p:spPr>
          <a:xfrm>
            <a:off x="8183879" y="4553712"/>
            <a:ext cx="2743200" cy="310896"/>
          </a:xfrm>
          <a:prstGeom prst="rect">
            <a:avLst/>
          </a:prstGeom>
          <a:noFill/>
        </p:spPr>
        <p:txBody>
          <a:bodyPr wrap="square" lIns="73152" tIns="36576" rIns="73152" bIns="36576" anchor="ctr">
            <a:spAutoFit/>
          </a:bodyPr>
          <a:lstStyle/>
          <a:p>
            <a:pPr algn="r"/>
            <a:r>
              <a:rPr sz="1300" b="0">
                <a:solidFill>
                  <a:srgbClr val="293945"/>
                </a:solidFill>
                <a:latin typeface="Aptos"/>
              </a:rPr>
              <a:t>TYPE_B     319</a:t>
            </a:r>
          </a:p>
        </p:txBody>
      </p:sp>
      <p:sp>
        <p:nvSpPr>
          <p:cNvPr id="18" name="TextBox 17"/>
          <p:cNvSpPr txBox="1"/>
          <p:nvPr/>
        </p:nvSpPr>
        <p:spPr>
          <a:xfrm>
            <a:off x="8183879" y="4992624"/>
            <a:ext cx="2743200" cy="310896"/>
          </a:xfrm>
          <a:prstGeom prst="rect">
            <a:avLst/>
          </a:prstGeom>
          <a:noFill/>
        </p:spPr>
        <p:txBody>
          <a:bodyPr wrap="square" lIns="73152" tIns="36576" rIns="73152" bIns="36576" anchor="ctr">
            <a:spAutoFit/>
          </a:bodyPr>
          <a:lstStyle/>
          <a:p>
            <a:pPr algn="r"/>
            <a:r>
              <a:rPr sz="1300" b="0">
                <a:solidFill>
                  <a:srgbClr val="293945"/>
                </a:solidFill>
                <a:latin typeface="Aptos"/>
              </a:rPr>
              <a:t>TYPE_C     207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ﺞﻳﻭﺮﺘﻟﺍ — 4 ﻝﺍﺆﺴﻟﺍ | 07</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ﻰﻠﻋﺃ ﺐﻠﻃ ﻂﻴﺳﻮﺑ ﺖﻄﺒﺗﺭﺍ ﺞﻳﻭﺮﺘﻟﺍ ﺕﻼﺠﺳ</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.ﺞﻳﻭﺮﺘﻟﺍ ﻡﺪﻋﻭ ﺞﻳﻭﺮﺘﻟﺍ ﻲﺘﻟﺎﺣ ﻲﻓ ﺕﺮﻬﻇ ﻲﺘﻟﺍ ﺔﺒﺟﻮﻟﺍ–ﺰﻛﺮﻤﻟﺍ ﺝﺍﻭﺯﺃ ﻞﺧﺍﺩ ﺔﻧﺭﺎﻘﻣ</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10 ﺮﺘﻓﺪﻟﺍ ﺔﻴﻠﺧ  •  08  |  ﺕﺎﺒﺟﻮﻟﺍ ﻰﻠﻋ ﺐﻠﻄﻟﺍ ﻞﻴﻠﺤﺗ</a:t>
            </a:r>
          </a:p>
        </p:txBody>
      </p:sp>
      <p:sp>
        <p:nvSpPr>
          <p:cNvPr id="7" name="Rounded Rectangle 6"/>
          <p:cNvSpPr/>
          <p:nvPr/>
        </p:nvSpPr>
        <p:spPr>
          <a:xfrm>
            <a:off x="731520" y="1737360"/>
            <a:ext cx="6629400" cy="43434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4_promotion_comparison.png"/>
          <p:cNvPicPr>
            <a:picLocks noChangeAspect="1"/>
          </p:cNvPicPr>
          <p:nvPr/>
        </p:nvPicPr>
        <p:blipFill>
          <a:blip r:embed="rId3"/>
          <a:stretch>
            <a:fillRect/>
          </a:stretch>
        </p:blipFill>
        <p:spPr>
          <a:xfrm>
            <a:off x="960120" y="2192882"/>
            <a:ext cx="6172200" cy="3340915"/>
          </a:xfrm>
          <a:prstGeom prst="rect">
            <a:avLst/>
          </a:prstGeom>
        </p:spPr>
      </p:pic>
      <p:sp>
        <p:nvSpPr>
          <p:cNvPr id="9" name="Rounded Rectangle 8"/>
          <p:cNvSpPr/>
          <p:nvPr/>
        </p:nvSpPr>
        <p:spPr>
          <a:xfrm>
            <a:off x="7772400" y="1828800"/>
            <a:ext cx="34290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12824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18704" y="1947672"/>
            <a:ext cx="3081528" cy="438912"/>
          </a:xfrm>
          <a:prstGeom prst="rect">
            <a:avLst/>
          </a:prstGeom>
          <a:noFill/>
        </p:spPr>
        <p:txBody>
          <a:bodyPr wrap="square" lIns="73152" tIns="36576" rIns="73152" bIns="36576" anchor="ctr">
            <a:spAutoFit/>
          </a:bodyPr>
          <a:lstStyle/>
          <a:p>
            <a:pPr algn="r"/>
            <a:r>
              <a:rPr sz="2500" b="1">
                <a:solidFill>
                  <a:srgbClr val="122A3E"/>
                </a:solidFill>
                <a:latin typeface="Aptos"/>
              </a:rPr>
              <a:t>+126.8%</a:t>
            </a:r>
          </a:p>
        </p:txBody>
      </p:sp>
      <p:sp>
        <p:nvSpPr>
          <p:cNvPr id="12" name="TextBox 11"/>
          <p:cNvSpPr txBox="1"/>
          <p:nvPr/>
        </p:nvSpPr>
        <p:spPr>
          <a:xfrm>
            <a:off x="7918704" y="2395728"/>
            <a:ext cx="3081528" cy="292608"/>
          </a:xfrm>
          <a:prstGeom prst="rect">
            <a:avLst/>
          </a:prstGeom>
          <a:noFill/>
        </p:spPr>
        <p:txBody>
          <a:bodyPr wrap="square" lIns="73152" tIns="36576" rIns="73152" bIns="36576" anchor="ctr">
            <a:spAutoFit/>
          </a:bodyPr>
          <a:lstStyle/>
          <a:p>
            <a:pPr algn="r"/>
            <a:r>
              <a:rPr sz="1200" b="1">
                <a:solidFill>
                  <a:srgbClr val="293945"/>
                </a:solidFill>
                <a:latin typeface="Aptos"/>
              </a:rPr>
              <a:t>ﻲﺠﻳﻭﺮﺘﻟﺍ ﺪﻳﺮﺒﻟﺍ</a:t>
            </a:r>
          </a:p>
        </p:txBody>
      </p:sp>
      <p:sp>
        <p:nvSpPr>
          <p:cNvPr id="13" name="TextBox 12"/>
          <p:cNvSpPr txBox="1"/>
          <p:nvPr/>
        </p:nvSpPr>
        <p:spPr>
          <a:xfrm>
            <a:off x="7918704" y="2679192"/>
            <a:ext cx="3081528" cy="201168"/>
          </a:xfrm>
          <a:prstGeom prst="rect">
            <a:avLst/>
          </a:prstGeom>
          <a:noFill/>
        </p:spPr>
        <p:txBody>
          <a:bodyPr wrap="square" lIns="73152" tIns="36576" rIns="73152" bIns="36576" anchor="ctr">
            <a:spAutoFit/>
          </a:bodyPr>
          <a:lstStyle/>
          <a:p>
            <a:pPr algn="r"/>
            <a:r>
              <a:rPr sz="900" b="0">
                <a:solidFill>
                  <a:srgbClr val="637480"/>
                </a:solidFill>
                <a:latin typeface="Aptos"/>
              </a:rPr>
              <a:t>149 ﻞﺑﺎﻘﻣ 338 ﻂﻴﺳﻭ</a:t>
            </a:r>
          </a:p>
        </p:txBody>
      </p:sp>
      <p:sp>
        <p:nvSpPr>
          <p:cNvPr id="14" name="Rounded Rectangle 13"/>
          <p:cNvSpPr/>
          <p:nvPr/>
        </p:nvSpPr>
        <p:spPr>
          <a:xfrm>
            <a:off x="7772400" y="3246120"/>
            <a:ext cx="34290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128248" y="3392424"/>
            <a:ext cx="32004" cy="841248"/>
          </a:xfrm>
          <a:prstGeom prst="rect">
            <a:avLst/>
          </a:prstGeom>
          <a:solidFill>
            <a:srgbClr val="DF9D3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18704" y="3364991"/>
            <a:ext cx="3081528" cy="438912"/>
          </a:xfrm>
          <a:prstGeom prst="rect">
            <a:avLst/>
          </a:prstGeom>
          <a:noFill/>
        </p:spPr>
        <p:txBody>
          <a:bodyPr wrap="square" lIns="73152" tIns="36576" rIns="73152" bIns="36576" anchor="ctr">
            <a:spAutoFit/>
          </a:bodyPr>
          <a:lstStyle/>
          <a:p>
            <a:pPr algn="r"/>
            <a:r>
              <a:rPr sz="2500" b="1">
                <a:solidFill>
                  <a:srgbClr val="122A3E"/>
                </a:solidFill>
                <a:latin typeface="Aptos"/>
              </a:rPr>
              <a:t>+136.5%</a:t>
            </a:r>
          </a:p>
        </p:txBody>
      </p:sp>
      <p:sp>
        <p:nvSpPr>
          <p:cNvPr id="17" name="TextBox 16"/>
          <p:cNvSpPr txBox="1"/>
          <p:nvPr/>
        </p:nvSpPr>
        <p:spPr>
          <a:xfrm>
            <a:off x="7918704" y="3813048"/>
            <a:ext cx="3081528" cy="292608"/>
          </a:xfrm>
          <a:prstGeom prst="rect">
            <a:avLst/>
          </a:prstGeom>
          <a:noFill/>
        </p:spPr>
        <p:txBody>
          <a:bodyPr wrap="square" lIns="73152" tIns="36576" rIns="73152" bIns="36576" anchor="ctr">
            <a:spAutoFit/>
          </a:bodyPr>
          <a:lstStyle/>
          <a:p>
            <a:pPr algn="r"/>
            <a:r>
              <a:rPr sz="1200" b="1">
                <a:solidFill>
                  <a:srgbClr val="293945"/>
                </a:solidFill>
                <a:latin typeface="Aptos"/>
              </a:rPr>
              <a:t>ﺔﻴﺴﻴﺋﺮﻟﺍ ﺔﺤﻔﺼﻟﺍ</a:t>
            </a:r>
          </a:p>
        </p:txBody>
      </p:sp>
      <p:sp>
        <p:nvSpPr>
          <p:cNvPr id="18" name="TextBox 17"/>
          <p:cNvSpPr txBox="1"/>
          <p:nvPr/>
        </p:nvSpPr>
        <p:spPr>
          <a:xfrm>
            <a:off x="7918704" y="4096511"/>
            <a:ext cx="3081528" cy="201168"/>
          </a:xfrm>
          <a:prstGeom prst="rect">
            <a:avLst/>
          </a:prstGeom>
          <a:noFill/>
        </p:spPr>
        <p:txBody>
          <a:bodyPr wrap="square" lIns="73152" tIns="36576" rIns="73152" bIns="36576" anchor="ctr">
            <a:spAutoFit/>
          </a:bodyPr>
          <a:lstStyle/>
          <a:p>
            <a:pPr algn="r"/>
            <a:r>
              <a:rPr sz="900" b="0">
                <a:solidFill>
                  <a:srgbClr val="637480"/>
                </a:solidFill>
                <a:latin typeface="Aptos"/>
              </a:rPr>
              <a:t>148 ﻞﺑﺎﻘﻣ 350 ﻂﻴﺳﻭ</a:t>
            </a:r>
          </a:p>
        </p:txBody>
      </p:sp>
      <p:sp>
        <p:nvSpPr>
          <p:cNvPr id="19" name="Rounded Rectangle 18"/>
          <p:cNvSpPr/>
          <p:nvPr/>
        </p:nvSpPr>
        <p:spPr>
          <a:xfrm>
            <a:off x="7772400" y="4663440"/>
            <a:ext cx="3429000" cy="114300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01000" y="4800600"/>
            <a:ext cx="2926080" cy="822960"/>
          </a:xfrm>
          <a:prstGeom prst="rect">
            <a:avLst/>
          </a:prstGeom>
          <a:noFill/>
        </p:spPr>
        <p:txBody>
          <a:bodyPr wrap="square" lIns="73152" tIns="36576" rIns="73152" bIns="36576" anchor="ctr">
            <a:spAutoFit/>
          </a:bodyPr>
          <a:lstStyle/>
          <a:p>
            <a:pPr algn="r"/>
            <a:r>
              <a:rPr sz="1200" b="1">
                <a:solidFill>
                  <a:srgbClr val="122A3E"/>
                </a:solidFill>
                <a:latin typeface="Aptos"/>
              </a:rPr>
              <a:t>Mann–Whitney ﻑﺮﻄﻟﺍ ﻲﺋﺎﻨﺛ
ﺢﻴﺤﺼﺗ Holm ﺕﺎﻧﺭﺎﻘﻣ ﺙﻼﺜﻟ</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ﻢﺼﺨﻟﺍ — 5 ﻝﺍﺆﺴﻟﺍ | 08</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ﺔﻔﻴﻌﺿ ﺎﻬﻨﻜﻟ ﺔﺒﺟﻮﻣ ﺐﻠﻄﻟﺎﺑ ﻢﺼﺨﻟﺍ ﺔﻗﻼﻋ</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.ﺮﻌﺴﻟﺍ ﺮﻴﻴﻐﺗ ﺮﺛﺃ ﺭﺪﻘﻳ ﻻ ؛ﺐﻳﺭﺪﺘﻟﺍ ﺕﻼﺠﺳ ﻰﻠﻋ Spearman ﻲﺒﺗﺭ ﻁﺎﺒﺗﺭﺍ</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11 ﺮﺘﻓﺪﻟﺍ ﺔﻴﻠﺧ  •  09  |  ﺕﺎﺒﺟﻮﻟﺍ ﻰﻠﻋ ﺐﻠﻄﻟﺍ ﻞﻴﻠﺤﺗ</a:t>
            </a:r>
          </a:p>
        </p:txBody>
      </p:sp>
      <p:sp>
        <p:nvSpPr>
          <p:cNvPr id="7" name="Rounded Rectangle 6"/>
          <p:cNvSpPr/>
          <p:nvPr/>
        </p:nvSpPr>
        <p:spPr>
          <a:xfrm>
            <a:off x="731520" y="1737360"/>
            <a:ext cx="6949440" cy="43434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5_discount_relationship.png"/>
          <p:cNvPicPr>
            <a:picLocks noChangeAspect="1"/>
          </p:cNvPicPr>
          <p:nvPr/>
        </p:nvPicPr>
        <p:blipFill>
          <a:blip r:embed="rId3"/>
          <a:stretch>
            <a:fillRect/>
          </a:stretch>
        </p:blipFill>
        <p:spPr>
          <a:xfrm>
            <a:off x="960120" y="2106265"/>
            <a:ext cx="6492240" cy="3514148"/>
          </a:xfrm>
          <a:prstGeom prst="rect">
            <a:avLst/>
          </a:prstGeom>
        </p:spPr>
      </p:pic>
      <p:sp>
        <p:nvSpPr>
          <p:cNvPr id="9" name="Rounded Rectangle 8"/>
          <p:cNvSpPr/>
          <p:nvPr/>
        </p:nvSpPr>
        <p:spPr>
          <a:xfrm>
            <a:off x="8092440" y="2011680"/>
            <a:ext cx="310896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128248" y="215798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38744" y="2130552"/>
            <a:ext cx="2761488" cy="438912"/>
          </a:xfrm>
          <a:prstGeom prst="rect">
            <a:avLst/>
          </a:prstGeom>
          <a:noFill/>
        </p:spPr>
        <p:txBody>
          <a:bodyPr wrap="square" lIns="73152" tIns="36576" rIns="73152" bIns="36576" anchor="ctr">
            <a:spAutoFit/>
          </a:bodyPr>
          <a:lstStyle/>
          <a:p>
            <a:pPr algn="r"/>
            <a:r>
              <a:rPr sz="2500" b="1">
                <a:solidFill>
                  <a:srgbClr val="122A3E"/>
                </a:solidFill>
                <a:latin typeface="Aptos"/>
              </a:rPr>
              <a:t>0.122</a:t>
            </a:r>
          </a:p>
        </p:txBody>
      </p:sp>
      <p:sp>
        <p:nvSpPr>
          <p:cNvPr id="12" name="TextBox 11"/>
          <p:cNvSpPr txBox="1"/>
          <p:nvPr/>
        </p:nvSpPr>
        <p:spPr>
          <a:xfrm>
            <a:off x="8238744" y="2578608"/>
            <a:ext cx="2761488" cy="292608"/>
          </a:xfrm>
          <a:prstGeom prst="rect">
            <a:avLst/>
          </a:prstGeom>
          <a:noFill/>
        </p:spPr>
        <p:txBody>
          <a:bodyPr wrap="square" lIns="73152" tIns="36576" rIns="73152" bIns="36576" anchor="ctr">
            <a:spAutoFit/>
          </a:bodyPr>
          <a:lstStyle/>
          <a:p>
            <a:pPr algn="r"/>
            <a:r>
              <a:rPr sz="1200" b="1">
                <a:solidFill>
                  <a:srgbClr val="293945"/>
                </a:solidFill>
                <a:latin typeface="Aptos"/>
              </a:rPr>
              <a:t>Spearman ﻁﺎﺒﺗﺭﺍ</a:t>
            </a:r>
          </a:p>
        </p:txBody>
      </p:sp>
      <p:sp>
        <p:nvSpPr>
          <p:cNvPr id="13" name="TextBox 12"/>
          <p:cNvSpPr txBox="1"/>
          <p:nvPr/>
        </p:nvSpPr>
        <p:spPr>
          <a:xfrm>
            <a:off x="8238744" y="2862072"/>
            <a:ext cx="2761488" cy="201168"/>
          </a:xfrm>
          <a:prstGeom prst="rect">
            <a:avLst/>
          </a:prstGeom>
          <a:noFill/>
        </p:spPr>
        <p:txBody>
          <a:bodyPr wrap="square" lIns="73152" tIns="36576" rIns="73152" bIns="36576" anchor="ctr">
            <a:spAutoFit/>
          </a:bodyPr>
          <a:lstStyle/>
          <a:p>
            <a:pPr algn="r"/>
            <a:r>
              <a:rPr sz="900" b="0">
                <a:solidFill>
                  <a:srgbClr val="637480"/>
                </a:solidFill>
                <a:latin typeface="Aptos"/>
              </a:rPr>
              <a:t>ﻒﻴﻌﺿﻭ ﺐﺟﻮﻣ</a:t>
            </a:r>
          </a:p>
        </p:txBody>
      </p:sp>
      <p:sp>
        <p:nvSpPr>
          <p:cNvPr id="14" name="Rounded Rectangle 13"/>
          <p:cNvSpPr/>
          <p:nvPr/>
        </p:nvSpPr>
        <p:spPr>
          <a:xfrm>
            <a:off x="8092440" y="3520440"/>
            <a:ext cx="3108960" cy="210312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3749039"/>
            <a:ext cx="2651760" cy="329184"/>
          </a:xfrm>
          <a:prstGeom prst="rect">
            <a:avLst/>
          </a:prstGeom>
          <a:noFill/>
        </p:spPr>
        <p:txBody>
          <a:bodyPr wrap="square" lIns="73152" tIns="36576" rIns="73152" bIns="36576" anchor="ctr">
            <a:spAutoFit/>
          </a:bodyPr>
          <a:lstStyle/>
          <a:p>
            <a:pPr algn="r"/>
            <a:r>
              <a:rPr sz="1500" b="1">
                <a:solidFill>
                  <a:srgbClr val="122A3E"/>
                </a:solidFill>
                <a:latin typeface="Aptos"/>
              </a:rPr>
              <a:t>؟ﺔﺠﻴﺘﻨﻟﺍ ﺮﺴﻔﻧ ﻒﻴﻛ</a:t>
            </a:r>
          </a:p>
        </p:txBody>
      </p:sp>
      <p:sp>
        <p:nvSpPr>
          <p:cNvPr id="16" name="Oval 15"/>
          <p:cNvSpPr/>
          <p:nvPr/>
        </p:nvSpPr>
        <p:spPr>
          <a:xfrm>
            <a:off x="10817352" y="441655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4251960"/>
            <a:ext cx="2468879" cy="438912"/>
          </a:xfrm>
          <a:prstGeom prst="rect">
            <a:avLst/>
          </a:prstGeom>
          <a:noFill/>
        </p:spPr>
        <p:txBody>
          <a:bodyPr wrap="square" lIns="73152" tIns="36576" rIns="73152" bIns="36576" anchor="ctr">
            <a:spAutoFit/>
          </a:bodyPr>
          <a:lstStyle/>
          <a:p>
            <a:pPr algn="r"/>
            <a:r>
              <a:rPr sz="1100" b="0">
                <a:solidFill>
                  <a:srgbClr val="293945"/>
                </a:solidFill>
                <a:latin typeface="Aptos"/>
              </a:rPr>
              <a:t>.ﻥﺎﻨﻣﺍﺰﺘﻳ ﺪﻗ ﻢﺼﺨﻟﺍﻭ ﺞﻳﻭﺮﺘﻟﺍ</a:t>
            </a:r>
          </a:p>
        </p:txBody>
      </p:sp>
      <p:sp>
        <p:nvSpPr>
          <p:cNvPr id="18" name="Oval 17"/>
          <p:cNvSpPr/>
          <p:nvPr/>
        </p:nvSpPr>
        <p:spPr>
          <a:xfrm>
            <a:off x="10817352" y="4901183"/>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4736592"/>
            <a:ext cx="2468879" cy="438912"/>
          </a:xfrm>
          <a:prstGeom prst="rect">
            <a:avLst/>
          </a:prstGeom>
          <a:noFill/>
        </p:spPr>
        <p:txBody>
          <a:bodyPr wrap="square" lIns="73152" tIns="36576" rIns="73152" bIns="36576" anchor="ctr">
            <a:spAutoFit/>
          </a:bodyPr>
          <a:lstStyle/>
          <a:p>
            <a:pPr algn="r"/>
            <a:r>
              <a:rPr sz="1100" b="0">
                <a:solidFill>
                  <a:srgbClr val="293945"/>
                </a:solidFill>
                <a:latin typeface="Aptos"/>
              </a:rPr>
              <a:t>.ﻒﻠﺘﺨﻳ ﺪﻗ ﻉﻮﺒﺳﻷﺍﻭ ﺔﺒﺟﻮﻟﺍ ﺭﺎﻴﺘﺧﺍ</a:t>
            </a:r>
          </a:p>
        </p:txBody>
      </p:sp>
      <p:sp>
        <p:nvSpPr>
          <p:cNvPr id="20" name="Oval 19"/>
          <p:cNvSpPr/>
          <p:nvPr/>
        </p:nvSpPr>
        <p:spPr>
          <a:xfrm>
            <a:off x="10817352" y="537667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5320" y="5212080"/>
            <a:ext cx="2468879" cy="384048"/>
          </a:xfrm>
          <a:prstGeom prst="rect">
            <a:avLst/>
          </a:prstGeom>
          <a:noFill/>
        </p:spPr>
        <p:txBody>
          <a:bodyPr wrap="square" lIns="73152" tIns="36576" rIns="73152" bIns="36576" anchor="ctr">
            <a:spAutoFit/>
          </a:bodyPr>
          <a:lstStyle/>
          <a:p>
            <a:pPr algn="r"/>
            <a:r>
              <a:rPr sz="1100" b="0">
                <a:solidFill>
                  <a:srgbClr val="293945"/>
                </a:solidFill>
                <a:latin typeface="Aptos"/>
              </a:rPr>
              <a:t>.ﺢﺑﺮﻟﺍ ﺶﻣﺎﻫ ﺕﺎﻧﺎﻴﺑ ﺮﻓﻮﺘﺗ ﻻ</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ﺕﺎﺒﺟﻮﻟﺍ ﺏﺬﺑﺬﺗ — 6 ﻝﺍﺆﺴﻟﺍ | 09</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ﺏﺬﺑﺬﺘﻟﺍﻭ ﻢﺠﺤﻟﺍ ﻦﻴﺑ ﻊﻤﺠﺗ ﺔﻌﺟﺍﺮﻤﻠﻟ ﺔﻳﻮﻟﻭﻷﺍ</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.ﺍﺰﻫﺎﺟ ﺎﻴﻃﺎﻴﺘﺣﺍ ﻭﺃ ﺀﺍﺮﺷ ﺔﻴﻤﻛ ﺲﻴﻟﻭ ؛ﺯﺮﻓ ﺓﺍﺩﺃ ﺐﻴﺗﺮﺘﻟﺍ</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12 ﺮﺘﻓﺪﻟﺍ ﺔﻴﻠﺧ  •  10  |  ﺕﺎﺒﺟﻮﻟﺍ ﻰﻠﻋ ﺐﻠﻄﻟﺍ ﻞﻴﻠﺤﺗ</a:t>
            </a:r>
          </a:p>
        </p:txBody>
      </p:sp>
      <p:sp>
        <p:nvSpPr>
          <p:cNvPr id="7" name="Rounded Rectangle 6"/>
          <p:cNvSpPr/>
          <p:nvPr/>
        </p:nvSpPr>
        <p:spPr>
          <a:xfrm>
            <a:off x="731520" y="1737360"/>
            <a:ext cx="6766560" cy="43434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6_meal_volatility.png"/>
          <p:cNvPicPr>
            <a:picLocks noChangeAspect="1"/>
          </p:cNvPicPr>
          <p:nvPr/>
        </p:nvPicPr>
        <p:blipFill>
          <a:blip r:embed="rId3"/>
          <a:stretch>
            <a:fillRect/>
          </a:stretch>
        </p:blipFill>
        <p:spPr>
          <a:xfrm>
            <a:off x="1392472" y="1965960"/>
            <a:ext cx="5444655" cy="3794760"/>
          </a:xfrm>
          <a:prstGeom prst="rect">
            <a:avLst/>
          </a:prstGeom>
        </p:spPr>
      </p:pic>
      <p:sp>
        <p:nvSpPr>
          <p:cNvPr id="9" name="Rounded Rectangle 8"/>
          <p:cNvSpPr/>
          <p:nvPr/>
        </p:nvSpPr>
        <p:spPr>
          <a:xfrm>
            <a:off x="7909560" y="1828800"/>
            <a:ext cx="329184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12824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55864" y="1947672"/>
            <a:ext cx="2944368" cy="438912"/>
          </a:xfrm>
          <a:prstGeom prst="rect">
            <a:avLst/>
          </a:prstGeom>
          <a:noFill/>
        </p:spPr>
        <p:txBody>
          <a:bodyPr wrap="square" lIns="73152" tIns="36576" rIns="73152" bIns="36576" anchor="ctr">
            <a:spAutoFit/>
          </a:bodyPr>
          <a:lstStyle/>
          <a:p>
            <a:pPr algn="r"/>
            <a:r>
              <a:rPr sz="2500" b="1">
                <a:solidFill>
                  <a:srgbClr val="122A3E"/>
                </a:solidFill>
                <a:latin typeface="Aptos"/>
              </a:rPr>
              <a:t>2290</a:t>
            </a:r>
          </a:p>
        </p:txBody>
      </p:sp>
      <p:sp>
        <p:nvSpPr>
          <p:cNvPr id="12" name="TextBox 11"/>
          <p:cNvSpPr txBox="1"/>
          <p:nvPr/>
        </p:nvSpPr>
        <p:spPr>
          <a:xfrm>
            <a:off x="8055864" y="2395728"/>
            <a:ext cx="2944368" cy="292608"/>
          </a:xfrm>
          <a:prstGeom prst="rect">
            <a:avLst/>
          </a:prstGeom>
          <a:noFill/>
        </p:spPr>
        <p:txBody>
          <a:bodyPr wrap="square" lIns="73152" tIns="36576" rIns="73152" bIns="36576" anchor="ctr">
            <a:spAutoFit/>
          </a:bodyPr>
          <a:lstStyle/>
          <a:p>
            <a:pPr algn="r"/>
            <a:r>
              <a:rPr sz="1200" b="1">
                <a:solidFill>
                  <a:srgbClr val="293945"/>
                </a:solidFill>
                <a:latin typeface="Aptos"/>
              </a:rPr>
              <a:t>ﺔﻌﺟﺍﺮﻣ ﺔﻳﻮﻟﻭﺃ ﻰﻠﻋﺃ</a:t>
            </a:r>
          </a:p>
        </p:txBody>
      </p:sp>
      <p:sp>
        <p:nvSpPr>
          <p:cNvPr id="13" name="TextBox 12"/>
          <p:cNvSpPr txBox="1"/>
          <p:nvPr/>
        </p:nvSpPr>
        <p:spPr>
          <a:xfrm>
            <a:off x="8055864" y="2679192"/>
            <a:ext cx="2944368" cy="201168"/>
          </a:xfrm>
          <a:prstGeom prst="rect">
            <a:avLst/>
          </a:prstGeom>
          <a:noFill/>
        </p:spPr>
        <p:txBody>
          <a:bodyPr wrap="square" lIns="73152" tIns="36576" rIns="73152" bIns="36576" anchor="ctr">
            <a:spAutoFit/>
          </a:bodyPr>
          <a:lstStyle/>
          <a:p>
            <a:pPr algn="r"/>
            <a:r>
              <a:rPr sz="900" b="0">
                <a:solidFill>
                  <a:srgbClr val="637480"/>
                </a:solidFill>
                <a:latin typeface="Aptos"/>
              </a:rPr>
              <a:t>9.77M ﺐﻠﻃ • CV ≈ 0.90</a:t>
            </a:r>
          </a:p>
        </p:txBody>
      </p:sp>
      <p:sp>
        <p:nvSpPr>
          <p:cNvPr id="14" name="Rounded Rectangle 13"/>
          <p:cNvSpPr/>
          <p:nvPr/>
        </p:nvSpPr>
        <p:spPr>
          <a:xfrm>
            <a:off x="7909560" y="3337560"/>
            <a:ext cx="3291840" cy="233172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83879" y="3566160"/>
            <a:ext cx="2743200" cy="329184"/>
          </a:xfrm>
          <a:prstGeom prst="rect">
            <a:avLst/>
          </a:prstGeom>
          <a:noFill/>
        </p:spPr>
        <p:txBody>
          <a:bodyPr wrap="square" lIns="73152" tIns="36576" rIns="73152" bIns="36576" anchor="ctr">
            <a:spAutoFit/>
          </a:bodyPr>
          <a:lstStyle/>
          <a:p>
            <a:pPr algn="r"/>
            <a:r>
              <a:rPr sz="1500" b="1">
                <a:solidFill>
                  <a:srgbClr val="122A3E"/>
                </a:solidFill>
                <a:latin typeface="Aptos"/>
              </a:rPr>
              <a:t>ﻯﺮﺧﺃ ﺓﺯﺭﺎﺑ ﺕﺎﺒﺟﻭ</a:t>
            </a:r>
          </a:p>
        </p:txBody>
      </p:sp>
      <p:sp>
        <p:nvSpPr>
          <p:cNvPr id="16" name="TextBox 15"/>
          <p:cNvSpPr txBox="1"/>
          <p:nvPr/>
        </p:nvSpPr>
        <p:spPr>
          <a:xfrm>
            <a:off x="8183879" y="4160520"/>
            <a:ext cx="2743200" cy="347472"/>
          </a:xfrm>
          <a:prstGeom prst="rect">
            <a:avLst/>
          </a:prstGeom>
          <a:noFill/>
        </p:spPr>
        <p:txBody>
          <a:bodyPr wrap="square" lIns="73152" tIns="36576" rIns="73152" bIns="36576" anchor="ctr">
            <a:spAutoFit/>
          </a:bodyPr>
          <a:lstStyle/>
          <a:p>
            <a:pPr algn="r"/>
            <a:r>
              <a:rPr sz="1300" b="0">
                <a:solidFill>
                  <a:srgbClr val="293945"/>
                </a:solidFill>
                <a:latin typeface="Aptos"/>
              </a:rPr>
              <a:t>1971   •   CV ≈ 1.10</a:t>
            </a:r>
          </a:p>
        </p:txBody>
      </p:sp>
      <p:sp>
        <p:nvSpPr>
          <p:cNvPr id="17" name="TextBox 16"/>
          <p:cNvSpPr txBox="1"/>
          <p:nvPr/>
        </p:nvSpPr>
        <p:spPr>
          <a:xfrm>
            <a:off x="8183879" y="4663440"/>
            <a:ext cx="2743200" cy="347472"/>
          </a:xfrm>
          <a:prstGeom prst="rect">
            <a:avLst/>
          </a:prstGeom>
          <a:noFill/>
        </p:spPr>
        <p:txBody>
          <a:bodyPr wrap="square" lIns="73152" tIns="36576" rIns="73152" bIns="36576" anchor="ctr">
            <a:spAutoFit/>
          </a:bodyPr>
          <a:lstStyle/>
          <a:p>
            <a:pPr algn="r"/>
            <a:r>
              <a:rPr sz="1300" b="0">
                <a:solidFill>
                  <a:srgbClr val="293945"/>
                </a:solidFill>
                <a:latin typeface="Aptos"/>
              </a:rPr>
              <a:t>1754   •   CV ≈ 0.89</a:t>
            </a:r>
          </a:p>
        </p:txBody>
      </p:sp>
      <p:sp>
        <p:nvSpPr>
          <p:cNvPr id="18" name="TextBox 17"/>
          <p:cNvSpPr txBox="1"/>
          <p:nvPr/>
        </p:nvSpPr>
        <p:spPr>
          <a:xfrm>
            <a:off x="8183879" y="5166360"/>
            <a:ext cx="2743200" cy="393192"/>
          </a:xfrm>
          <a:prstGeom prst="rect">
            <a:avLst/>
          </a:prstGeom>
          <a:noFill/>
        </p:spPr>
        <p:txBody>
          <a:bodyPr wrap="square" lIns="73152" tIns="36576" rIns="73152" bIns="36576" anchor="ctr">
            <a:spAutoFit/>
          </a:bodyPr>
          <a:lstStyle/>
          <a:p>
            <a:pPr algn="r"/>
            <a:r>
              <a:rPr sz="1100" b="1">
                <a:solidFill>
                  <a:srgbClr val="147E8B"/>
                </a:solidFill>
                <a:latin typeface="Aptos"/>
              </a:rPr>
              <a:t>.90 ﻦﻴﺌﻤﻟﺍﻭ ﺔﺒﺟﻮﻟﺍ–ﺰﻛﺮﻤﻟﺍ ﺐﺴﺣ ﺐﻠﻄﻟﺍ ﻊﺟﺍﺭ</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ﺆﺒﻨﺘﻟﺍ — ﺔﻳﺭﺎﻴﺘﺧﺍ ﺔﻓﺎﺿﺇ | 10</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ﻖﻘﺤﺘﻟﺍ ﻲﻓ ﺭﺍﺪﺤﻧﻻﺍ ﻰﻠﻋ ﻕﻮﻔﺗ ﻂﻴﺴﺒﻟﺍ ﺱﺎﺳﻷﺍ ﻂﺧ</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.ﻞﺼﺘﻤﻟﺍ ﻖﺑﺎﺴﻟﺍ ﻉﻮﺒﺳﻷﺍ ﺕﺍﺫ ﻑﻮﻔﺼﻠﻟ ،145–136 ﻊﻴﺑﺎﺳﻷﺍ ﻰﻠﻋ ﺔﻴﻨﻣﺯ ﺔﻧﺭﺎﻘﻣ</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13 ﺮﺘﻓﺪﻟﺍ ﺔﻴﻠﺧ  •  11  |  ﺕﺎﺒﺟﻮﻟﺍ ﻰﻠﻋ ﺐﻠﻄﻟﺍ ﻞﻴﻠﺤﺗ</a:t>
            </a:r>
          </a:p>
        </p:txBody>
      </p:sp>
      <p:sp>
        <p:nvSpPr>
          <p:cNvPr id="7" name="Rounded Rectangle 6"/>
          <p:cNvSpPr/>
          <p:nvPr/>
        </p:nvSpPr>
        <p:spPr>
          <a:xfrm>
            <a:off x="868680" y="1828800"/>
            <a:ext cx="32004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99592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1947672"/>
            <a:ext cx="2852928" cy="438912"/>
          </a:xfrm>
          <a:prstGeom prst="rect">
            <a:avLst/>
          </a:prstGeom>
          <a:noFill/>
        </p:spPr>
        <p:txBody>
          <a:bodyPr wrap="square" lIns="73152" tIns="36576" rIns="73152" bIns="36576" anchor="ctr">
            <a:spAutoFit/>
          </a:bodyPr>
          <a:lstStyle/>
          <a:p>
            <a:pPr algn="r"/>
            <a:r>
              <a:rPr sz="2500" b="1">
                <a:solidFill>
                  <a:srgbClr val="122A3E"/>
                </a:solidFill>
                <a:latin typeface="Aptos"/>
              </a:rPr>
              <a:t>97.16</a:t>
            </a:r>
          </a:p>
        </p:txBody>
      </p:sp>
      <p:sp>
        <p:nvSpPr>
          <p:cNvPr id="10" name="TextBox 9"/>
          <p:cNvSpPr txBox="1"/>
          <p:nvPr/>
        </p:nvSpPr>
        <p:spPr>
          <a:xfrm>
            <a:off x="1014983" y="2395728"/>
            <a:ext cx="2852928" cy="292608"/>
          </a:xfrm>
          <a:prstGeom prst="rect">
            <a:avLst/>
          </a:prstGeom>
          <a:noFill/>
        </p:spPr>
        <p:txBody>
          <a:bodyPr wrap="square" lIns="73152" tIns="36576" rIns="73152" bIns="36576" anchor="ctr">
            <a:spAutoFit/>
          </a:bodyPr>
          <a:lstStyle/>
          <a:p>
            <a:pPr algn="r"/>
            <a:r>
              <a:rPr sz="1200" b="1">
                <a:solidFill>
                  <a:srgbClr val="293945"/>
                </a:solidFill>
                <a:latin typeface="Aptos"/>
              </a:rPr>
              <a:t>MAE ﻲﻄﺨﻟﺍ ﺭﺍﺪﺤﻧﻻﺍ</a:t>
            </a:r>
          </a:p>
        </p:txBody>
      </p:sp>
      <p:sp>
        <p:nvSpPr>
          <p:cNvPr id="11" name="TextBox 10"/>
          <p:cNvSpPr txBox="1"/>
          <p:nvPr/>
        </p:nvSpPr>
        <p:spPr>
          <a:xfrm>
            <a:off x="1014983" y="2679192"/>
            <a:ext cx="2852928" cy="201168"/>
          </a:xfrm>
          <a:prstGeom prst="rect">
            <a:avLst/>
          </a:prstGeom>
          <a:noFill/>
        </p:spPr>
        <p:txBody>
          <a:bodyPr wrap="square" lIns="73152" tIns="36576" rIns="73152" bIns="36576" anchor="ctr">
            <a:spAutoFit/>
          </a:bodyPr>
          <a:lstStyle/>
          <a:p>
            <a:pPr algn="r"/>
            <a:r>
              <a:rPr sz="900" b="0">
                <a:solidFill>
                  <a:srgbClr val="637480"/>
                </a:solidFill>
                <a:latin typeface="Aptos"/>
              </a:rPr>
              <a:t>ﻞﺠﺳ ﻞﻜﻟ ﺐﻠﻃ</a:t>
            </a:r>
          </a:p>
        </p:txBody>
      </p:sp>
      <p:sp>
        <p:nvSpPr>
          <p:cNvPr id="12" name="Rounded Rectangle 11"/>
          <p:cNvSpPr/>
          <p:nvPr/>
        </p:nvSpPr>
        <p:spPr>
          <a:xfrm>
            <a:off x="4480560" y="1828800"/>
            <a:ext cx="32004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0780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26864" y="1947672"/>
            <a:ext cx="2852928" cy="438912"/>
          </a:xfrm>
          <a:prstGeom prst="rect">
            <a:avLst/>
          </a:prstGeom>
          <a:noFill/>
        </p:spPr>
        <p:txBody>
          <a:bodyPr wrap="square" lIns="73152" tIns="36576" rIns="73152" bIns="36576" anchor="ctr">
            <a:spAutoFit/>
          </a:bodyPr>
          <a:lstStyle/>
          <a:p>
            <a:pPr algn="r"/>
            <a:r>
              <a:rPr sz="2500" b="1">
                <a:solidFill>
                  <a:srgbClr val="122A3E"/>
                </a:solidFill>
                <a:latin typeface="Aptos"/>
              </a:rPr>
              <a:t>81.78</a:t>
            </a:r>
          </a:p>
        </p:txBody>
      </p:sp>
      <p:sp>
        <p:nvSpPr>
          <p:cNvPr id="15" name="TextBox 14"/>
          <p:cNvSpPr txBox="1"/>
          <p:nvPr/>
        </p:nvSpPr>
        <p:spPr>
          <a:xfrm>
            <a:off x="4626864" y="2395728"/>
            <a:ext cx="2852928" cy="292608"/>
          </a:xfrm>
          <a:prstGeom prst="rect">
            <a:avLst/>
          </a:prstGeom>
          <a:noFill/>
        </p:spPr>
        <p:txBody>
          <a:bodyPr wrap="square" lIns="73152" tIns="36576" rIns="73152" bIns="36576" anchor="ctr">
            <a:spAutoFit/>
          </a:bodyPr>
          <a:lstStyle/>
          <a:p>
            <a:pPr algn="r"/>
            <a:r>
              <a:rPr sz="1200" b="1">
                <a:solidFill>
                  <a:srgbClr val="293945"/>
                </a:solidFill>
                <a:latin typeface="Aptos"/>
              </a:rPr>
              <a:t>MAE ﻖﺑﺎﺴﻟﺍ ﻉﻮﺒﺳﻷﺍ ﻂﺧ</a:t>
            </a:r>
          </a:p>
        </p:txBody>
      </p:sp>
      <p:sp>
        <p:nvSpPr>
          <p:cNvPr id="16" name="TextBox 15"/>
          <p:cNvSpPr txBox="1"/>
          <p:nvPr/>
        </p:nvSpPr>
        <p:spPr>
          <a:xfrm>
            <a:off x="4626864" y="2679192"/>
            <a:ext cx="2852928" cy="201168"/>
          </a:xfrm>
          <a:prstGeom prst="rect">
            <a:avLst/>
          </a:prstGeom>
          <a:noFill/>
        </p:spPr>
        <p:txBody>
          <a:bodyPr wrap="square" lIns="73152" tIns="36576" rIns="73152" bIns="36576" anchor="ctr">
            <a:spAutoFit/>
          </a:bodyPr>
          <a:lstStyle/>
          <a:p>
            <a:pPr algn="r"/>
            <a:r>
              <a:rPr sz="900" b="0">
                <a:solidFill>
                  <a:srgbClr val="637480"/>
                </a:solidFill>
                <a:latin typeface="Aptos"/>
              </a:rPr>
              <a:t>ﻞﻀﻓﺃ ﻞﻗﻷﺍ</a:t>
            </a:r>
          </a:p>
        </p:txBody>
      </p:sp>
      <p:sp>
        <p:nvSpPr>
          <p:cNvPr id="17" name="Rounded Rectangle 16"/>
          <p:cNvSpPr/>
          <p:nvPr/>
        </p:nvSpPr>
        <p:spPr>
          <a:xfrm>
            <a:off x="8092440" y="1828800"/>
            <a:ext cx="3200400" cy="1143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219688" y="1975104"/>
            <a:ext cx="32004" cy="8412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38744" y="1947672"/>
            <a:ext cx="2852928" cy="438912"/>
          </a:xfrm>
          <a:prstGeom prst="rect">
            <a:avLst/>
          </a:prstGeom>
          <a:noFill/>
        </p:spPr>
        <p:txBody>
          <a:bodyPr wrap="square" lIns="73152" tIns="36576" rIns="73152" bIns="36576" anchor="ctr">
            <a:spAutoFit/>
          </a:bodyPr>
          <a:lstStyle/>
          <a:p>
            <a:pPr algn="r"/>
            <a:r>
              <a:rPr sz="2500" b="1">
                <a:solidFill>
                  <a:srgbClr val="122A3E"/>
                </a:solidFill>
                <a:latin typeface="Aptos"/>
              </a:rPr>
              <a:t>32,573</a:t>
            </a:r>
          </a:p>
        </p:txBody>
      </p:sp>
      <p:sp>
        <p:nvSpPr>
          <p:cNvPr id="20" name="TextBox 19"/>
          <p:cNvSpPr txBox="1"/>
          <p:nvPr/>
        </p:nvSpPr>
        <p:spPr>
          <a:xfrm>
            <a:off x="8238744" y="2395728"/>
            <a:ext cx="2852928" cy="292608"/>
          </a:xfrm>
          <a:prstGeom prst="rect">
            <a:avLst/>
          </a:prstGeom>
          <a:noFill/>
        </p:spPr>
        <p:txBody>
          <a:bodyPr wrap="square" lIns="73152" tIns="36576" rIns="73152" bIns="36576" anchor="ctr">
            <a:spAutoFit/>
          </a:bodyPr>
          <a:lstStyle/>
          <a:p>
            <a:pPr algn="r"/>
            <a:r>
              <a:rPr sz="1200" b="1">
                <a:solidFill>
                  <a:srgbClr val="293945"/>
                </a:solidFill>
                <a:latin typeface="Aptos"/>
              </a:rPr>
              <a:t>ﺎﻇﻮﻔﺤﻣ ﺍﺆﺒﻨﺗ</a:t>
            </a:r>
          </a:p>
        </p:txBody>
      </p:sp>
      <p:sp>
        <p:nvSpPr>
          <p:cNvPr id="21" name="TextBox 20"/>
          <p:cNvSpPr txBox="1"/>
          <p:nvPr/>
        </p:nvSpPr>
        <p:spPr>
          <a:xfrm>
            <a:off x="8238744" y="2679192"/>
            <a:ext cx="2852928" cy="201168"/>
          </a:xfrm>
          <a:prstGeom prst="rect">
            <a:avLst/>
          </a:prstGeom>
          <a:noFill/>
        </p:spPr>
        <p:txBody>
          <a:bodyPr wrap="square" lIns="73152" tIns="36576" rIns="73152" bIns="36576" anchor="ctr">
            <a:spAutoFit/>
          </a:bodyPr>
          <a:lstStyle/>
          <a:p>
            <a:pPr algn="r"/>
            <a:r>
              <a:rPr sz="900" b="0">
                <a:solidFill>
                  <a:srgbClr val="637480"/>
                </a:solidFill>
                <a:latin typeface="Aptos"/>
              </a:rPr>
              <a:t>ﺭﺎﺒﺘﺧﺍ ﻞﺠﺳ ﻞﻜﻟ ﻒﺻ</a:t>
            </a:r>
          </a:p>
        </p:txBody>
      </p:sp>
      <p:sp>
        <p:nvSpPr>
          <p:cNvPr id="22" name="Rounded Rectangle 21"/>
          <p:cNvSpPr/>
          <p:nvPr/>
        </p:nvSpPr>
        <p:spPr>
          <a:xfrm>
            <a:off x="868680" y="3429000"/>
            <a:ext cx="5074920" cy="210312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3657600"/>
            <a:ext cx="4389120" cy="329184"/>
          </a:xfrm>
          <a:prstGeom prst="rect">
            <a:avLst/>
          </a:prstGeom>
          <a:noFill/>
        </p:spPr>
        <p:txBody>
          <a:bodyPr wrap="square" lIns="73152" tIns="36576" rIns="73152" bIns="36576" anchor="ctr">
            <a:spAutoFit/>
          </a:bodyPr>
          <a:lstStyle/>
          <a:p>
            <a:pPr algn="r"/>
            <a:r>
              <a:rPr sz="1600" b="1">
                <a:solidFill>
                  <a:srgbClr val="122A3E"/>
                </a:solidFill>
                <a:latin typeface="Aptos"/>
              </a:rPr>
              <a:t>؟ﻥﺭﻮﻗ ﻱﺬﻟﺍ ﺎﻣ</a:t>
            </a:r>
          </a:p>
        </p:txBody>
      </p:sp>
      <p:sp>
        <p:nvSpPr>
          <p:cNvPr id="24" name="Oval 23"/>
          <p:cNvSpPr/>
          <p:nvPr/>
        </p:nvSpPr>
        <p:spPr>
          <a:xfrm>
            <a:off x="5468112" y="43251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97280" y="4160520"/>
            <a:ext cx="4297680" cy="502920"/>
          </a:xfrm>
          <a:prstGeom prst="rect">
            <a:avLst/>
          </a:prstGeom>
          <a:noFill/>
        </p:spPr>
        <p:txBody>
          <a:bodyPr wrap="square" lIns="73152" tIns="36576" rIns="73152" bIns="36576" anchor="ctr">
            <a:spAutoFit/>
          </a:bodyPr>
          <a:lstStyle/>
          <a:p>
            <a:pPr algn="r"/>
            <a:r>
              <a:rPr sz="1200" b="0">
                <a:solidFill>
                  <a:srgbClr val="293945"/>
                </a:solidFill>
                <a:latin typeface="Aptos"/>
              </a:rPr>
              <a:t>.ﺞﻳﻭﺮﺘﻟﺍﻭ ﺮﻌﺴﻟﺍﻭ ﻖﺑﺎﺴﻟﺍ ﺐﻠﻄﻟﺍﻭ ﻉﻮﺒﺳﻷﺍ ﺕﺍﺰﻴﻤﺑ ﻲﻄﺧ ﺭﺍﺪﺤﻧﺍ</a:t>
            </a:r>
          </a:p>
        </p:txBody>
      </p:sp>
      <p:sp>
        <p:nvSpPr>
          <p:cNvPr id="26" name="Oval 25"/>
          <p:cNvSpPr/>
          <p:nvPr/>
        </p:nvSpPr>
        <p:spPr>
          <a:xfrm>
            <a:off x="5468112" y="496519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7280" y="4800600"/>
            <a:ext cx="4297680" cy="457200"/>
          </a:xfrm>
          <a:prstGeom prst="rect">
            <a:avLst/>
          </a:prstGeom>
          <a:noFill/>
        </p:spPr>
        <p:txBody>
          <a:bodyPr wrap="square" lIns="73152" tIns="36576" rIns="73152" bIns="36576" anchor="ctr">
            <a:spAutoFit/>
          </a:bodyPr>
          <a:lstStyle/>
          <a:p>
            <a:pPr algn="r"/>
            <a:r>
              <a:rPr sz="1200" b="0">
                <a:solidFill>
                  <a:srgbClr val="293945"/>
                </a:solidFill>
                <a:latin typeface="Aptos"/>
              </a:rPr>
              <a:t>.ﻖﺑﺎﺴﻟﺍ ﻉﻮﺒﺳﻷﺍ ﺐﻠﻃ ﺭﺍﺮﻜﺗ :ﺱﺎﺳﺃ ﻂﺧ</a:t>
            </a:r>
          </a:p>
        </p:txBody>
      </p:sp>
      <p:sp>
        <p:nvSpPr>
          <p:cNvPr id="28" name="Rounded Rectangle 27"/>
          <p:cNvSpPr/>
          <p:nvPr/>
        </p:nvSpPr>
        <p:spPr>
          <a:xfrm>
            <a:off x="6217920" y="3429000"/>
            <a:ext cx="5074920" cy="210312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3657600"/>
            <a:ext cx="4389120" cy="329184"/>
          </a:xfrm>
          <a:prstGeom prst="rect">
            <a:avLst/>
          </a:prstGeom>
          <a:noFill/>
        </p:spPr>
        <p:txBody>
          <a:bodyPr wrap="square" lIns="73152" tIns="36576" rIns="73152" bIns="36576" anchor="ctr">
            <a:spAutoFit/>
          </a:bodyPr>
          <a:lstStyle/>
          <a:p>
            <a:pPr algn="r"/>
            <a:r>
              <a:rPr sz="1600" b="1">
                <a:solidFill>
                  <a:srgbClr val="122A3E"/>
                </a:solidFill>
                <a:latin typeface="Aptos"/>
              </a:rPr>
              <a:t>؟ﺔﺠﻴﺘﻨﻟﺍ ﻡﺪﺨﺘﺴﻧ ﻒﻴﻛ</a:t>
            </a:r>
          </a:p>
        </p:txBody>
      </p:sp>
      <p:sp>
        <p:nvSpPr>
          <p:cNvPr id="30" name="Oval 29"/>
          <p:cNvSpPr/>
          <p:nvPr/>
        </p:nvSpPr>
        <p:spPr>
          <a:xfrm>
            <a:off x="10817352" y="432511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160520"/>
            <a:ext cx="4297680" cy="502920"/>
          </a:xfrm>
          <a:prstGeom prst="rect">
            <a:avLst/>
          </a:prstGeom>
          <a:noFill/>
        </p:spPr>
        <p:txBody>
          <a:bodyPr wrap="square" lIns="73152" tIns="36576" rIns="73152" bIns="36576" anchor="ctr">
            <a:spAutoFit/>
          </a:bodyPr>
          <a:lstStyle/>
          <a:p>
            <a:pPr algn="r"/>
            <a:r>
              <a:rPr sz="1200" b="0">
                <a:solidFill>
                  <a:srgbClr val="293945"/>
                </a:solidFill>
                <a:latin typeface="Aptos"/>
              </a:rPr>
              <a:t>.ﻖﻘﺤﺘﻟﺍ ﻲﻓ ﻞﻗﺃ MAE ﻖﻘﺣ ﻪﻧﻷ ﺱﺎﺳﻷﺍ ﻂﺧ ﺮﻴﺘﺧﺍ</a:t>
            </a:r>
          </a:p>
        </p:txBody>
      </p:sp>
      <p:sp>
        <p:nvSpPr>
          <p:cNvPr id="32" name="Oval 31"/>
          <p:cNvSpPr/>
          <p:nvPr/>
        </p:nvSpPr>
        <p:spPr>
          <a:xfrm>
            <a:off x="10817352" y="496519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4800600"/>
            <a:ext cx="4297680" cy="457200"/>
          </a:xfrm>
          <a:prstGeom prst="rect">
            <a:avLst/>
          </a:prstGeom>
          <a:noFill/>
        </p:spPr>
        <p:txBody>
          <a:bodyPr wrap="square" lIns="73152" tIns="36576" rIns="73152" bIns="36576" anchor="ctr">
            <a:spAutoFit/>
          </a:bodyPr>
          <a:lstStyle/>
          <a:p>
            <a:pPr algn="r"/>
            <a:r>
              <a:rPr sz="1200" b="0">
                <a:solidFill>
                  <a:srgbClr val="293945"/>
                </a:solidFill>
                <a:latin typeface="Aptos"/>
              </a:rPr>
              <a:t>.reports/test_predictions.csv ﻲﻓ ﺔﻇﻮﻔﺤﻣ ﺕﺍﺆﺒﻨﺘﻟﺍ</a:t>
            </a:r>
          </a:p>
        </p:txBody>
      </p:sp>
      <p:sp>
        <p:nvSpPr>
          <p:cNvPr id="34" name="TextBox 33"/>
          <p:cNvSpPr txBox="1"/>
          <p:nvPr/>
        </p:nvSpPr>
        <p:spPr>
          <a:xfrm>
            <a:off x="1005840" y="5870448"/>
            <a:ext cx="10241280" cy="320040"/>
          </a:xfrm>
          <a:prstGeom prst="rect">
            <a:avLst/>
          </a:prstGeom>
          <a:noFill/>
        </p:spPr>
        <p:txBody>
          <a:bodyPr wrap="square" lIns="73152" tIns="36576" rIns="73152" bIns="36576" anchor="ctr">
            <a:spAutoFit/>
          </a:bodyPr>
          <a:lstStyle/>
          <a:p>
            <a:pPr algn="r"/>
            <a:r>
              <a:rPr sz="1100" b="1">
                <a:solidFill>
                  <a:srgbClr val="DF9D3A"/>
                </a:solidFill>
                <a:latin typeface="Aptos"/>
              </a:rPr>
              <a:t>.ﺔﻌﺑﺎﺘﺘﻣ ﻊﻴﺑﺎﺳﺃ ﺓﺮﺸﻌﻟ ﺔﻠﻘﺘﺴﻣ ﺓﺎﻛﺎﺤﻣ ﺲﻴﻟﻭ ،ﻡﺎﻣﻸﻟ ﺓﺪﺣﺍﻭ ﺓﻮﻄﺧ ﻖﻘﺤﺘﻟﺍ :ﻪﻴﺒﻨﺗ</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ﺀﺍﺮﺟﻹﺍ ﻰﻟﺇ ﺔﺠﻴﺘﻨﻟﺍ ﻦﻣ | 11</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ﺡﺎﺠﻧ ﺲﻴﻳﺎﻘﻣ ﺔﺛﻼﺛﻭ — ﺔﻴﻠﻤﻋ ﺏﺭﺎﺠﺗ ﺙﻼﺛ</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.ﺓﺮﺷﺎﺒﻣ ﺔﻳﺪﺻﺮﻟﺍ ﺞﺋﺎﺘﻨﻟﺍ ﻢﻤﻌﺗ ﻻﻭ ،ﺔﻧﺭﺎﻘﻤﻠﻟ ﺔﻠﺑﺎﻗ ﺓﺮﻴﻐﺻ ﺏﺭﺎﺠﺘﺑ ﺃﺪﺑﺍ</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14 ﺮﺘﻓﺪﻟﺍ ﺔﻴﻠﺧ  •  12  |  ﺕﺎﺒﺟﻮﻟﺍ ﻰﻠﻋ ﺐﻠﻄﻟﺍ ﻞﻴﻠﺤﺗ</a:t>
            </a:r>
          </a:p>
        </p:txBody>
      </p:sp>
      <p:sp>
        <p:nvSpPr>
          <p:cNvPr id="7" name="Rounded Rectangle 6"/>
          <p:cNvSpPr/>
          <p:nvPr/>
        </p:nvSpPr>
        <p:spPr>
          <a:xfrm>
            <a:off x="777240" y="1965960"/>
            <a:ext cx="3401568" cy="361188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2212848"/>
            <a:ext cx="594360" cy="457200"/>
          </a:xfrm>
          <a:prstGeom prst="rect">
            <a:avLst/>
          </a:prstGeom>
          <a:noFill/>
        </p:spPr>
        <p:txBody>
          <a:bodyPr wrap="square" lIns="73152" tIns="36576" rIns="73152" bIns="36576" anchor="ctr">
            <a:spAutoFit/>
          </a:bodyPr>
          <a:lstStyle/>
          <a:p>
            <a:pPr algn="l"/>
            <a:r>
              <a:rPr sz="2300" b="1">
                <a:solidFill>
                  <a:srgbClr val="147E8B"/>
                </a:solidFill>
                <a:latin typeface="Aptos"/>
              </a:rPr>
              <a:t>01</a:t>
            </a:r>
          </a:p>
        </p:txBody>
      </p:sp>
      <p:sp>
        <p:nvSpPr>
          <p:cNvPr id="9" name="TextBox 8"/>
          <p:cNvSpPr txBox="1"/>
          <p:nvPr/>
        </p:nvSpPr>
        <p:spPr>
          <a:xfrm>
            <a:off x="978408" y="2788920"/>
            <a:ext cx="2880360" cy="685800"/>
          </a:xfrm>
          <a:prstGeom prst="rect">
            <a:avLst/>
          </a:prstGeom>
          <a:noFill/>
        </p:spPr>
        <p:txBody>
          <a:bodyPr wrap="square" lIns="73152" tIns="36576" rIns="73152" bIns="36576" anchor="ctr">
            <a:spAutoFit/>
          </a:bodyPr>
          <a:lstStyle/>
          <a:p>
            <a:pPr algn="r"/>
            <a:r>
              <a:rPr sz="1600" b="1">
                <a:solidFill>
                  <a:srgbClr val="122A3E"/>
                </a:solidFill>
                <a:latin typeface="Aptos"/>
              </a:rPr>
              <a:t>ﺔﺒﺟﻮﻟﺍ–ﺰﻛﺮﻤﻟﺍ ﺐﺴﺣ ﻥﻭﺰﺨﻣ ﺔﺑﺮﺠﺗ</a:t>
            </a:r>
          </a:p>
        </p:txBody>
      </p:sp>
      <p:sp>
        <p:nvSpPr>
          <p:cNvPr id="10" name="TextBox 9"/>
          <p:cNvSpPr txBox="1"/>
          <p:nvPr/>
        </p:nvSpPr>
        <p:spPr>
          <a:xfrm>
            <a:off x="978408" y="3611880"/>
            <a:ext cx="2880360" cy="822960"/>
          </a:xfrm>
          <a:prstGeom prst="rect">
            <a:avLst/>
          </a:prstGeom>
          <a:noFill/>
        </p:spPr>
        <p:txBody>
          <a:bodyPr wrap="square" lIns="73152" tIns="36576" rIns="73152" bIns="36576" anchor="ctr">
            <a:spAutoFit/>
          </a:bodyPr>
          <a:lstStyle/>
          <a:p>
            <a:pPr algn="r"/>
            <a:r>
              <a:rPr sz="1200" b="0">
                <a:solidFill>
                  <a:srgbClr val="293945"/>
                </a:solidFill>
                <a:latin typeface="Aptos"/>
              </a:rPr>
              <a:t>.ﺎﻴﺒﻳﺮﺠﺗ ﺎﻌﺟﺮﻣ 90 ﻦﻴﺌﻤﻟﺍ ﻡﺪﺨﺘﺳﺍ ؛ﺏﺬﺑﺬﺘﻟﺍﻭ ﻢﺠﺤﻟﺍ ﺔﻌﻔﺗﺮﻣ ﺕﺎﺒﺟﻮﻟﺎﺑ ﺃﺪﺑﺍ</a:t>
            </a:r>
          </a:p>
        </p:txBody>
      </p:sp>
      <p:sp>
        <p:nvSpPr>
          <p:cNvPr id="11" name="TextBox 10"/>
          <p:cNvSpPr txBox="1"/>
          <p:nvPr/>
        </p:nvSpPr>
        <p:spPr>
          <a:xfrm>
            <a:off x="978408" y="4572000"/>
            <a:ext cx="2880360" cy="786384"/>
          </a:xfrm>
          <a:prstGeom prst="rect">
            <a:avLst/>
          </a:prstGeom>
          <a:noFill/>
        </p:spPr>
        <p:txBody>
          <a:bodyPr wrap="square" lIns="73152" tIns="36576" rIns="73152" bIns="36576" anchor="ctr">
            <a:spAutoFit/>
          </a:bodyPr>
          <a:lstStyle/>
          <a:p>
            <a:pPr algn="r"/>
            <a:r>
              <a:rPr sz="1100" b="1">
                <a:solidFill>
                  <a:srgbClr val="147E8B"/>
                </a:solidFill>
                <a:latin typeface="Aptos"/>
              </a:rPr>
              <a:t>.ﺔﻣﺪﺨﻟﺍ ﻊﺟﺍﺮﺗ ﻥﻭﺩ ﺐﻠﻃ 1,000 ﻞﻜﻟ ﺭﺪﻬﻟﺍﻭ ﺩﺎﻔﻨﻟﺍ ﺾﻔﺧ :ﺡﺎﺠﻨﻟﺍ</a:t>
            </a:r>
          </a:p>
        </p:txBody>
      </p:sp>
      <p:sp>
        <p:nvSpPr>
          <p:cNvPr id="12" name="Rounded Rectangle 11"/>
          <p:cNvSpPr/>
          <p:nvPr/>
        </p:nvSpPr>
        <p:spPr>
          <a:xfrm>
            <a:off x="4434840" y="1965960"/>
            <a:ext cx="3401568" cy="3611880"/>
          </a:xfrm>
          <a:prstGeom prst="roundRect">
            <a:avLst/>
          </a:prstGeom>
          <a:solidFill>
            <a:srgbClr val="E2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212848"/>
            <a:ext cx="594360" cy="457200"/>
          </a:xfrm>
          <a:prstGeom prst="rect">
            <a:avLst/>
          </a:prstGeom>
          <a:noFill/>
        </p:spPr>
        <p:txBody>
          <a:bodyPr wrap="square" lIns="73152" tIns="36576" rIns="73152" bIns="36576" anchor="ctr">
            <a:spAutoFit/>
          </a:bodyPr>
          <a:lstStyle/>
          <a:p>
            <a:pPr algn="l"/>
            <a:r>
              <a:rPr sz="2300" b="1">
                <a:solidFill>
                  <a:srgbClr val="147E8B"/>
                </a:solidFill>
                <a:latin typeface="Aptos"/>
              </a:rPr>
              <a:t>02</a:t>
            </a:r>
          </a:p>
        </p:txBody>
      </p:sp>
      <p:sp>
        <p:nvSpPr>
          <p:cNvPr id="14" name="TextBox 13"/>
          <p:cNvSpPr txBox="1"/>
          <p:nvPr/>
        </p:nvSpPr>
        <p:spPr>
          <a:xfrm>
            <a:off x="4636007" y="2788920"/>
            <a:ext cx="2880360" cy="685800"/>
          </a:xfrm>
          <a:prstGeom prst="rect">
            <a:avLst/>
          </a:prstGeom>
          <a:noFill/>
        </p:spPr>
        <p:txBody>
          <a:bodyPr wrap="square" lIns="73152" tIns="36576" rIns="73152" bIns="36576" anchor="ctr">
            <a:spAutoFit/>
          </a:bodyPr>
          <a:lstStyle/>
          <a:p>
            <a:pPr algn="r"/>
            <a:r>
              <a:rPr sz="1600" b="1">
                <a:solidFill>
                  <a:srgbClr val="122A3E"/>
                </a:solidFill>
                <a:latin typeface="Aptos"/>
              </a:rPr>
              <a:t>ﺞﻳﻭﺮﺘﻠﻟ ﻲﺋﺍﻮﺸﻋ ﺭﺎﺒﺘﺧﺍ</a:t>
            </a:r>
          </a:p>
        </p:txBody>
      </p:sp>
      <p:sp>
        <p:nvSpPr>
          <p:cNvPr id="15" name="TextBox 14"/>
          <p:cNvSpPr txBox="1"/>
          <p:nvPr/>
        </p:nvSpPr>
        <p:spPr>
          <a:xfrm>
            <a:off x="4636007" y="3611880"/>
            <a:ext cx="2880360" cy="822960"/>
          </a:xfrm>
          <a:prstGeom prst="rect">
            <a:avLst/>
          </a:prstGeom>
          <a:noFill/>
        </p:spPr>
        <p:txBody>
          <a:bodyPr wrap="square" lIns="73152" tIns="36576" rIns="73152" bIns="36576" anchor="ctr">
            <a:spAutoFit/>
          </a:bodyPr>
          <a:lstStyle/>
          <a:p>
            <a:pPr algn="r"/>
            <a:r>
              <a:rPr sz="1200" b="0">
                <a:solidFill>
                  <a:srgbClr val="293945"/>
                </a:solidFill>
                <a:latin typeface="Aptos"/>
              </a:rPr>
              <a:t>.ﺎﻘﺒﺴﻣ ﺎﺳﺎﻴﻘﻣﻭ ﺓﺮﺘﻓﻭ ﺔﻧﺭﺎﻘﻣ ﺔﻋﻮﻤﺠﻣ ﺩﺪﺣﻭ ،ﺔﺤﻔﺼﻟﺍ ﻦﻋ ﺪﻳﺮﺒﻟﺍ ﻞﺼﻓﺍ</a:t>
            </a:r>
          </a:p>
        </p:txBody>
      </p:sp>
      <p:sp>
        <p:nvSpPr>
          <p:cNvPr id="16" name="TextBox 15"/>
          <p:cNvSpPr txBox="1"/>
          <p:nvPr/>
        </p:nvSpPr>
        <p:spPr>
          <a:xfrm>
            <a:off x="4636007" y="4572000"/>
            <a:ext cx="2880360" cy="786384"/>
          </a:xfrm>
          <a:prstGeom prst="rect">
            <a:avLst/>
          </a:prstGeom>
          <a:noFill/>
        </p:spPr>
        <p:txBody>
          <a:bodyPr wrap="square" lIns="73152" tIns="36576" rIns="73152" bIns="36576" anchor="ctr">
            <a:spAutoFit/>
          </a:bodyPr>
          <a:lstStyle/>
          <a:p>
            <a:pPr algn="r"/>
            <a:r>
              <a:rPr sz="1100" b="1">
                <a:solidFill>
                  <a:srgbClr val="147E8B"/>
                </a:solidFill>
                <a:latin typeface="Aptos"/>
              </a:rPr>
              <a:t>.ﺕﺍﺀﺎﻐﻟﻹﺍﻭ ﺩﺎﻔﻨﻟﺍ ﺔﺒﻗﺍﺮﻣ ﻊﻣ ؛ﺔﻔﻠﻜﺘﻟﺍ ﺪﻌﺑ ﻥﺎﻴﻓﺎﺿﺇ ﺶﻣﺎﻫﻭ ﺐﻠﻃ :ﺡﺎﺠﻨﻟﺍ</a:t>
            </a:r>
          </a:p>
        </p:txBody>
      </p:sp>
      <p:sp>
        <p:nvSpPr>
          <p:cNvPr id="17" name="Rounded Rectangle 16"/>
          <p:cNvSpPr/>
          <p:nvPr/>
        </p:nvSpPr>
        <p:spPr>
          <a:xfrm>
            <a:off x="8092440" y="1965960"/>
            <a:ext cx="3401568" cy="361188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8" y="2212848"/>
            <a:ext cx="594360" cy="457200"/>
          </a:xfrm>
          <a:prstGeom prst="rect">
            <a:avLst/>
          </a:prstGeom>
          <a:noFill/>
        </p:spPr>
        <p:txBody>
          <a:bodyPr wrap="square" lIns="73152" tIns="36576" rIns="73152" bIns="36576" anchor="ctr">
            <a:spAutoFit/>
          </a:bodyPr>
          <a:lstStyle/>
          <a:p>
            <a:pPr algn="l"/>
            <a:r>
              <a:rPr sz="2300" b="1">
                <a:solidFill>
                  <a:srgbClr val="147E8B"/>
                </a:solidFill>
                <a:latin typeface="Aptos"/>
              </a:rPr>
              <a:t>03</a:t>
            </a:r>
          </a:p>
        </p:txBody>
      </p:sp>
      <p:sp>
        <p:nvSpPr>
          <p:cNvPr id="19" name="TextBox 18"/>
          <p:cNvSpPr txBox="1"/>
          <p:nvPr/>
        </p:nvSpPr>
        <p:spPr>
          <a:xfrm>
            <a:off x="8293608" y="2788920"/>
            <a:ext cx="2880360" cy="685800"/>
          </a:xfrm>
          <a:prstGeom prst="rect">
            <a:avLst/>
          </a:prstGeom>
          <a:noFill/>
        </p:spPr>
        <p:txBody>
          <a:bodyPr wrap="square" lIns="73152" tIns="36576" rIns="73152" bIns="36576" anchor="ctr">
            <a:spAutoFit/>
          </a:bodyPr>
          <a:lstStyle/>
          <a:p>
            <a:pPr algn="r"/>
            <a:r>
              <a:rPr sz="1600" b="1">
                <a:solidFill>
                  <a:srgbClr val="122A3E"/>
                </a:solidFill>
                <a:latin typeface="Aptos"/>
              </a:rPr>
              <a:t>ﻢﺼﺨﻟﺍ ﺕﺎﺟﺭﺩ ﺭﺎﺒﺘﺧﺍ</a:t>
            </a:r>
          </a:p>
        </p:txBody>
      </p:sp>
      <p:sp>
        <p:nvSpPr>
          <p:cNvPr id="20" name="TextBox 19"/>
          <p:cNvSpPr txBox="1"/>
          <p:nvPr/>
        </p:nvSpPr>
        <p:spPr>
          <a:xfrm>
            <a:off x="8293608" y="3611880"/>
            <a:ext cx="2880360" cy="822960"/>
          </a:xfrm>
          <a:prstGeom prst="rect">
            <a:avLst/>
          </a:prstGeom>
          <a:noFill/>
        </p:spPr>
        <p:txBody>
          <a:bodyPr wrap="square" lIns="73152" tIns="36576" rIns="73152" bIns="36576" anchor="ctr">
            <a:spAutoFit/>
          </a:bodyPr>
          <a:lstStyle/>
          <a:p>
            <a:pPr algn="r"/>
            <a:r>
              <a:rPr sz="1200" b="0">
                <a:solidFill>
                  <a:srgbClr val="293945"/>
                </a:solidFill>
                <a:latin typeface="Aptos"/>
              </a:rPr>
              <a:t>.ﺔﻨﻣﺍﺰﺘﻤﻟﺍ ﺽﻭﺮﻌﻟﺍ ﻖﻴﺛﻮﺗ ﻊﻣ ﺓﺩﺪﺤﻣ ﺰﻛﺍﺮﻣ/ﺕﺎﺒﺟﻭ ﻰﻠﻋ ﺮﻌﺴﻟﺍ ﺮﺒﺘﺧﺍ</a:t>
            </a:r>
          </a:p>
        </p:txBody>
      </p:sp>
      <p:sp>
        <p:nvSpPr>
          <p:cNvPr id="21" name="TextBox 20"/>
          <p:cNvSpPr txBox="1"/>
          <p:nvPr/>
        </p:nvSpPr>
        <p:spPr>
          <a:xfrm>
            <a:off x="8293608" y="4572000"/>
            <a:ext cx="2880360" cy="786384"/>
          </a:xfrm>
          <a:prstGeom prst="rect">
            <a:avLst/>
          </a:prstGeom>
          <a:noFill/>
        </p:spPr>
        <p:txBody>
          <a:bodyPr wrap="square" lIns="73152" tIns="36576" rIns="73152" bIns="36576" anchor="ctr">
            <a:spAutoFit/>
          </a:bodyPr>
          <a:lstStyle/>
          <a:p>
            <a:pPr algn="r"/>
            <a:r>
              <a:rPr sz="1100" b="1">
                <a:solidFill>
                  <a:srgbClr val="147E8B"/>
                </a:solidFill>
                <a:latin typeface="Aptos"/>
              </a:rPr>
              <a:t>.ﺭﺪﻬﻟﺍﻭ ﺔﻠﻤﺤﻟﺍﻭ ﺩﺍﻮﻤﻟﺍ ﺔﻔﻠﻜﺗ ﺪﻌﺑ ﻲﻓﺎﺿﺇ ﺔﻤﻫﺎﺴﻣ ﺶﻣﺎﻫ :ﺡﺎﺠﻨﻟﺍ</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219456"/>
            <a:ext cx="10881360" cy="256032"/>
          </a:xfrm>
          <a:prstGeom prst="rect">
            <a:avLst/>
          </a:prstGeom>
          <a:noFill/>
        </p:spPr>
        <p:txBody>
          <a:bodyPr wrap="square" lIns="73152" tIns="36576" rIns="73152" bIns="36576" anchor="ctr">
            <a:spAutoFit/>
          </a:bodyPr>
          <a:lstStyle/>
          <a:p>
            <a:pPr algn="r"/>
            <a:r>
              <a:rPr sz="1000" b="1">
                <a:solidFill>
                  <a:srgbClr val="147E8B"/>
                </a:solidFill>
                <a:latin typeface="Aptos"/>
              </a:rPr>
              <a:t>ﺔﺻﻼﺨﻟﺍﻭ ﺩﻭﺪﺤﻟﺍ | 12</a:t>
            </a:r>
          </a:p>
        </p:txBody>
      </p:sp>
      <p:sp>
        <p:nvSpPr>
          <p:cNvPr id="3" name="TextBox 2"/>
          <p:cNvSpPr txBox="1"/>
          <p:nvPr/>
        </p:nvSpPr>
        <p:spPr>
          <a:xfrm>
            <a:off x="658368" y="566928"/>
            <a:ext cx="10881360" cy="475488"/>
          </a:xfrm>
          <a:prstGeom prst="rect">
            <a:avLst/>
          </a:prstGeom>
          <a:noFill/>
        </p:spPr>
        <p:txBody>
          <a:bodyPr wrap="square" lIns="73152" tIns="36576" rIns="73152" bIns="36576" anchor="ctr">
            <a:spAutoFit/>
          </a:bodyPr>
          <a:lstStyle/>
          <a:p>
            <a:pPr algn="r"/>
            <a:r>
              <a:rPr sz="2500" b="1">
                <a:solidFill>
                  <a:srgbClr val="122A3E"/>
                </a:solidFill>
                <a:latin typeface="Aptos"/>
              </a:rPr>
              <a:t>؟ﻪﺗﺎﺒﺛﺇ ﻊﻴﻄﺘﺴﺗ ﻻ ﻱﺬﻟﺍ ﺎﻣﻭ — ﺕﺎﻧﺎﻴﺒﻟﺍ ﻪﻟﻮﻘﺗ ﻱﺬﻟﺍ ﺎﻣ</a:t>
            </a:r>
          </a:p>
        </p:txBody>
      </p:sp>
      <p:sp>
        <p:nvSpPr>
          <p:cNvPr id="4" name="TextBox 3"/>
          <p:cNvSpPr txBox="1"/>
          <p:nvPr/>
        </p:nvSpPr>
        <p:spPr>
          <a:xfrm>
            <a:off x="685800" y="1051560"/>
            <a:ext cx="10789920" cy="384048"/>
          </a:xfrm>
          <a:prstGeom prst="rect">
            <a:avLst/>
          </a:prstGeom>
          <a:noFill/>
        </p:spPr>
        <p:txBody>
          <a:bodyPr wrap="square" lIns="73152" tIns="36576" rIns="73152" bIns="36576" anchor="ctr">
            <a:spAutoFit/>
          </a:bodyPr>
          <a:lstStyle/>
          <a:p>
            <a:pPr algn="r"/>
            <a:r>
              <a:rPr sz="1200" b="0">
                <a:solidFill>
                  <a:srgbClr val="637480"/>
                </a:solidFill>
                <a:latin typeface="Aptos"/>
              </a:rPr>
              <a:t>.ﺎﻴﻠﻴﻐﺸﺗ ﺍﺭﺎﺒﺘﺧﺍ ﻖﺤﺘﺴﻳ ﺎﻣ ﺪﻳﺪﺤﺗﻭ ﻞﺠﺴﻤﻟﺍ ﺐﻠﻄﻟﺍ ﻒﺻﻭ :ﻯﻮﻗﻷﺍ ﺔﺠﻴﺘﻨﻟﺍ</a:t>
            </a:r>
          </a:p>
        </p:txBody>
      </p:sp>
      <p:sp>
        <p:nvSpPr>
          <p:cNvPr id="5" name="Rectangle 4"/>
          <p:cNvSpPr/>
          <p:nvPr/>
        </p:nvSpPr>
        <p:spPr>
          <a:xfrm>
            <a:off x="685800" y="1481328"/>
            <a:ext cx="658368" cy="41148"/>
          </a:xfrm>
          <a:prstGeom prst="rect">
            <a:avLst/>
          </a:prstGeom>
          <a:solidFill>
            <a:srgbClr val="147E8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510528"/>
            <a:ext cx="10927080" cy="182880"/>
          </a:xfrm>
          <a:prstGeom prst="rect">
            <a:avLst/>
          </a:prstGeom>
          <a:noFill/>
        </p:spPr>
        <p:txBody>
          <a:bodyPr wrap="square" lIns="73152" tIns="36576" rIns="73152" bIns="36576" anchor="ctr">
            <a:spAutoFit/>
          </a:bodyPr>
          <a:lstStyle/>
          <a:p>
            <a:pPr algn="r"/>
            <a:r>
              <a:rPr sz="800" b="0">
                <a:solidFill>
                  <a:srgbClr val="637480"/>
                </a:solidFill>
                <a:latin typeface="Aptos"/>
              </a:rPr>
              <a:t>15–14ﻭ 1 ﺮﺘﻓﺪﻟﺍ ﺎﻳﻼﺧ  •  13  |  ﺕﺎﺒﺟﻮﻟﺍ ﻰﻠﻋ ﺐﻠﻄﻟﺍ ﻞﻴﻠﺤﺗ</a:t>
            </a:r>
          </a:p>
        </p:txBody>
      </p:sp>
      <p:sp>
        <p:nvSpPr>
          <p:cNvPr id="7" name="Rounded Rectangle 6"/>
          <p:cNvSpPr/>
          <p:nvPr/>
        </p:nvSpPr>
        <p:spPr>
          <a:xfrm>
            <a:off x="777240" y="1828800"/>
            <a:ext cx="5120640" cy="3429000"/>
          </a:xfrm>
          <a:prstGeom prst="roundRect">
            <a:avLst/>
          </a:prstGeom>
          <a:solidFill>
            <a:srgbClr val="F1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084831"/>
            <a:ext cx="4389120" cy="365760"/>
          </a:xfrm>
          <a:prstGeom prst="rect">
            <a:avLst/>
          </a:prstGeom>
          <a:noFill/>
        </p:spPr>
        <p:txBody>
          <a:bodyPr wrap="square" lIns="73152" tIns="36576" rIns="73152" bIns="36576" anchor="ctr">
            <a:spAutoFit/>
          </a:bodyPr>
          <a:lstStyle/>
          <a:p>
            <a:pPr algn="r"/>
            <a:r>
              <a:rPr sz="1700" b="1">
                <a:solidFill>
                  <a:srgbClr val="122A3E"/>
                </a:solidFill>
                <a:latin typeface="Aptos"/>
              </a:rPr>
              <a:t>ﺎﻫﺮﻛﺬﺗ ﺐﺠﻳ ﺩﻭﺪﺣ</a:t>
            </a:r>
          </a:p>
        </p:txBody>
      </p:sp>
      <p:sp>
        <p:nvSpPr>
          <p:cNvPr id="9" name="Oval 8"/>
          <p:cNvSpPr/>
          <p:nvPr/>
        </p:nvSpPr>
        <p:spPr>
          <a:xfrm>
            <a:off x="5422392" y="2816352"/>
            <a:ext cx="68580" cy="68580"/>
          </a:xfrm>
          <a:prstGeom prst="ellipse">
            <a:avLst/>
          </a:prstGeom>
          <a:solidFill>
            <a:srgbClr val="DF9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651760"/>
            <a:ext cx="4343400" cy="384048"/>
          </a:xfrm>
          <a:prstGeom prst="rect">
            <a:avLst/>
          </a:prstGeom>
          <a:noFill/>
        </p:spPr>
        <p:txBody>
          <a:bodyPr wrap="square" lIns="73152" tIns="36576" rIns="73152" bIns="36576" anchor="ctr">
            <a:spAutoFit/>
          </a:bodyPr>
          <a:lstStyle/>
          <a:p>
            <a:pPr algn="r"/>
            <a:r>
              <a:rPr sz="1100" b="0">
                <a:solidFill>
                  <a:srgbClr val="293945"/>
                </a:solidFill>
                <a:latin typeface="Aptos"/>
              </a:rPr>
              <a:t>.ﺔﻳﻮﻬﻟﺍ ﺔﻟﻮﻬﺠﻣ ﻊﻗﺍﻮﻤﻟﺍﻭ ؛ﺦﻳﺭﺍﻮﺗ ﺖﺴﻴﻟﻭ ﻡﺎﻗﺭﺃ ﻊﻴﺑﺎﺳﻷﺍ</a:t>
            </a:r>
          </a:p>
        </p:txBody>
      </p:sp>
      <p:sp>
        <p:nvSpPr>
          <p:cNvPr id="11" name="Oval 10"/>
          <p:cNvSpPr/>
          <p:nvPr/>
        </p:nvSpPr>
        <p:spPr>
          <a:xfrm>
            <a:off x="5422392" y="3273552"/>
            <a:ext cx="68580" cy="68580"/>
          </a:xfrm>
          <a:prstGeom prst="ellipse">
            <a:avLst/>
          </a:prstGeom>
          <a:solidFill>
            <a:srgbClr val="DF9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108960"/>
            <a:ext cx="4343400" cy="384048"/>
          </a:xfrm>
          <a:prstGeom prst="rect">
            <a:avLst/>
          </a:prstGeom>
          <a:noFill/>
        </p:spPr>
        <p:txBody>
          <a:bodyPr wrap="square" lIns="73152" tIns="36576" rIns="73152" bIns="36576" anchor="ctr">
            <a:spAutoFit/>
          </a:bodyPr>
          <a:lstStyle/>
          <a:p>
            <a:pPr algn="r"/>
            <a:r>
              <a:rPr sz="1100" b="0">
                <a:solidFill>
                  <a:srgbClr val="293945"/>
                </a:solidFill>
                <a:latin typeface="Aptos"/>
              </a:rPr>
              <a:t>.ﻥﻭﺰﺨﻤﻟﺍ ﺮﻓﻮﺘﺑ ﺍﺪﻴﻘﻣ ﻥﻮﻜﻳ ﺪﻗ ﻞﺠﺴﻤﻟﺍ ﺐﻠﻄﻟﺍ</a:t>
            </a:r>
          </a:p>
        </p:txBody>
      </p:sp>
      <p:sp>
        <p:nvSpPr>
          <p:cNvPr id="13" name="Oval 12"/>
          <p:cNvSpPr/>
          <p:nvPr/>
        </p:nvSpPr>
        <p:spPr>
          <a:xfrm>
            <a:off x="5422392" y="3730752"/>
            <a:ext cx="68580" cy="68580"/>
          </a:xfrm>
          <a:prstGeom prst="ellipse">
            <a:avLst/>
          </a:prstGeom>
          <a:solidFill>
            <a:srgbClr val="DF9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566160"/>
            <a:ext cx="4343400" cy="384048"/>
          </a:xfrm>
          <a:prstGeom prst="rect">
            <a:avLst/>
          </a:prstGeom>
          <a:noFill/>
        </p:spPr>
        <p:txBody>
          <a:bodyPr wrap="square" lIns="73152" tIns="36576" rIns="73152" bIns="36576" anchor="ctr">
            <a:spAutoFit/>
          </a:bodyPr>
          <a:lstStyle/>
          <a:p>
            <a:pPr algn="r"/>
            <a:r>
              <a:rPr sz="1100" b="0">
                <a:solidFill>
                  <a:srgbClr val="293945"/>
                </a:solidFill>
                <a:latin typeface="Aptos"/>
              </a:rPr>
              <a:t>.ﻒﻴﻟﺎﻜﺘﻟﺍ ﻭﺃ ﺭﺪﻬﻟﺍ ﻭﺃ ﺩﺎﻔﻨﻟﺍ ﻦﻋ ﺓﺮﺷﺎﺒﻣ ﺕﺎﻧﺎﻴﺑ ﻻ</a:t>
            </a:r>
          </a:p>
        </p:txBody>
      </p:sp>
      <p:sp>
        <p:nvSpPr>
          <p:cNvPr id="15" name="Oval 14"/>
          <p:cNvSpPr/>
          <p:nvPr/>
        </p:nvSpPr>
        <p:spPr>
          <a:xfrm>
            <a:off x="5422392" y="4187952"/>
            <a:ext cx="68580" cy="68580"/>
          </a:xfrm>
          <a:prstGeom prst="ellipse">
            <a:avLst/>
          </a:prstGeom>
          <a:solidFill>
            <a:srgbClr val="DF9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023360"/>
            <a:ext cx="4343400" cy="384048"/>
          </a:xfrm>
          <a:prstGeom prst="rect">
            <a:avLst/>
          </a:prstGeom>
          <a:noFill/>
        </p:spPr>
        <p:txBody>
          <a:bodyPr wrap="square" lIns="73152" tIns="36576" rIns="73152" bIns="36576" anchor="ctr">
            <a:spAutoFit/>
          </a:bodyPr>
          <a:lstStyle/>
          <a:p>
            <a:pPr algn="r"/>
            <a:r>
              <a:rPr sz="1100" b="0">
                <a:solidFill>
                  <a:srgbClr val="293945"/>
                </a:solidFill>
                <a:latin typeface="Aptos"/>
              </a:rPr>
              <a:t>.ﺔﻴﺒﺒﺴﻟﺍ ﺖﺒﺜﻳ ﻻ ﻁﺎﺒﺗﺭﻻﺍ ؛ﺔﻴﺋﺍﻮﺸﻋ ﺮﻴﻏ ﺭﺎﻌﺳﻷﺍﻭ ﺽﻭﺮﻌﻟﺍ</a:t>
            </a:r>
          </a:p>
        </p:txBody>
      </p:sp>
      <p:sp>
        <p:nvSpPr>
          <p:cNvPr id="17" name="Oval 16"/>
          <p:cNvSpPr/>
          <p:nvPr/>
        </p:nvSpPr>
        <p:spPr>
          <a:xfrm>
            <a:off x="5422392" y="4645152"/>
            <a:ext cx="68580" cy="68580"/>
          </a:xfrm>
          <a:prstGeom prst="ellipse">
            <a:avLst/>
          </a:prstGeom>
          <a:solidFill>
            <a:srgbClr val="DF9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4480560"/>
            <a:ext cx="4343400" cy="384048"/>
          </a:xfrm>
          <a:prstGeom prst="rect">
            <a:avLst/>
          </a:prstGeom>
          <a:noFill/>
        </p:spPr>
        <p:txBody>
          <a:bodyPr wrap="square" lIns="73152" tIns="36576" rIns="73152" bIns="36576" anchor="ctr">
            <a:spAutoFit/>
          </a:bodyPr>
          <a:lstStyle/>
          <a:p>
            <a:pPr algn="r"/>
            <a:r>
              <a:rPr sz="1100" b="0">
                <a:solidFill>
                  <a:srgbClr val="293945"/>
                </a:solidFill>
                <a:latin typeface="Aptos"/>
              </a:rPr>
              <a:t>.ﺍﺮﻔﺻ ﻱﻭﺎﺴﻳ ﺐﻠﻄﻟﺍ ﻥﺃ ﻲﻨﻌﻳ ﻻ ﻞﺠﺳ ﺏﺎﻴﻏ</a:t>
            </a:r>
          </a:p>
        </p:txBody>
      </p:sp>
      <p:sp>
        <p:nvSpPr>
          <p:cNvPr id="19" name="Rounded Rectangle 18"/>
          <p:cNvSpPr/>
          <p:nvPr/>
        </p:nvSpPr>
        <p:spPr>
          <a:xfrm>
            <a:off x="6217920" y="1828800"/>
            <a:ext cx="5166360" cy="3429000"/>
          </a:xfrm>
          <a:prstGeom prst="roundRect">
            <a:avLst/>
          </a:prstGeom>
          <a:solidFill>
            <a:srgbClr val="FFFFFF"/>
          </a:solidFill>
          <a:ln>
            <a:solidFill>
              <a:srgbClr val="E2EF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2084831"/>
            <a:ext cx="4434840" cy="365760"/>
          </a:xfrm>
          <a:prstGeom prst="rect">
            <a:avLst/>
          </a:prstGeom>
          <a:noFill/>
        </p:spPr>
        <p:txBody>
          <a:bodyPr wrap="square" lIns="73152" tIns="36576" rIns="73152" bIns="36576" anchor="ctr">
            <a:spAutoFit/>
          </a:bodyPr>
          <a:lstStyle/>
          <a:p>
            <a:pPr algn="r"/>
            <a:r>
              <a:rPr sz="1700" b="1">
                <a:solidFill>
                  <a:srgbClr val="122A3E"/>
                </a:solidFill>
                <a:latin typeface="Aptos"/>
              </a:rPr>
              <a:t>ﻖﻘﺤﺘﻟﺍﻭ ﻞﻤﻌﻟﺍ ﺞﻬﻨﻣ</a:t>
            </a:r>
          </a:p>
        </p:txBody>
      </p:sp>
      <p:sp>
        <p:nvSpPr>
          <p:cNvPr id="21" name="Oval 20"/>
          <p:cNvSpPr/>
          <p:nvPr/>
        </p:nvSpPr>
        <p:spPr>
          <a:xfrm>
            <a:off x="10863072" y="286207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2697480"/>
            <a:ext cx="4343400" cy="438912"/>
          </a:xfrm>
          <a:prstGeom prst="rect">
            <a:avLst/>
          </a:prstGeom>
          <a:noFill/>
        </p:spPr>
        <p:txBody>
          <a:bodyPr wrap="square" lIns="73152" tIns="36576" rIns="73152" bIns="36576" anchor="ctr">
            <a:spAutoFit/>
          </a:bodyPr>
          <a:lstStyle/>
          <a:p>
            <a:pPr algn="r"/>
            <a:r>
              <a:rPr sz="1200" b="0">
                <a:solidFill>
                  <a:srgbClr val="293945"/>
                </a:solidFill>
                <a:latin typeface="Aptos"/>
              </a:rPr>
              <a:t>Copilot ﻖﻴﺛﻮﺘﻟﺍﻭ ﻞﻴﻠﺤﺘﻟﺍ ﺮﻴﺳ ﺩﺍﺪﻋﺇ ﻲﻓ ﺪﻋﺎﺳ.</a:t>
            </a:r>
          </a:p>
        </p:txBody>
      </p:sp>
      <p:sp>
        <p:nvSpPr>
          <p:cNvPr id="23" name="Oval 22"/>
          <p:cNvSpPr/>
          <p:nvPr/>
        </p:nvSpPr>
        <p:spPr>
          <a:xfrm>
            <a:off x="10863072" y="345643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3291840"/>
            <a:ext cx="4343400" cy="438912"/>
          </a:xfrm>
          <a:prstGeom prst="rect">
            <a:avLst/>
          </a:prstGeom>
          <a:noFill/>
        </p:spPr>
        <p:txBody>
          <a:bodyPr wrap="square" lIns="73152" tIns="36576" rIns="73152" bIns="36576" anchor="ctr">
            <a:spAutoFit/>
          </a:bodyPr>
          <a:lstStyle/>
          <a:p>
            <a:pPr algn="r"/>
            <a:r>
              <a:rPr sz="1200" b="0">
                <a:solidFill>
                  <a:srgbClr val="293945"/>
                </a:solidFill>
                <a:latin typeface="Aptos"/>
              </a:rPr>
              <a:t>.ﻪﺠﺋﺎﺘﻧﻭ ﺮﺘﻓﺪﻟﺍ ﺎﻳﻼﺨﺑ ﺔﻄﺒﺗﺮﻣ ﺕﺎﻴﺻﻮﺘﻟﺍﻭ ﻡﺎﻗﺭﻷﺍ</a:t>
            </a:r>
          </a:p>
        </p:txBody>
      </p:sp>
      <p:sp>
        <p:nvSpPr>
          <p:cNvPr id="25" name="Oval 24"/>
          <p:cNvSpPr/>
          <p:nvPr/>
        </p:nvSpPr>
        <p:spPr>
          <a:xfrm>
            <a:off x="10863072" y="4050791"/>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3886200"/>
            <a:ext cx="4343400" cy="502920"/>
          </a:xfrm>
          <a:prstGeom prst="rect">
            <a:avLst/>
          </a:prstGeom>
          <a:noFill/>
        </p:spPr>
        <p:txBody>
          <a:bodyPr wrap="square" lIns="73152" tIns="36576" rIns="73152" bIns="36576" anchor="ctr">
            <a:spAutoFit/>
          </a:bodyPr>
          <a:lstStyle/>
          <a:p>
            <a:pPr algn="r"/>
            <a:r>
              <a:rPr sz="1200" b="0">
                <a:solidFill>
                  <a:srgbClr val="293945"/>
                </a:solidFill>
                <a:latin typeface="Aptos"/>
              </a:rPr>
              <a:t>.ﺕﺎﺟﺮﺨﻤﻟﺍﻭ ﺔﺘﺴﻟﺍ ﻡﻮﺳﺮﻟﺍ ﻦﻣ ﻖﻘﺤﺘﻟﺍﻭ ﺎﻳﻼﺨﻟﺍ ﻞﻴﻐﺸﺗ ﺪﻴﻋﺃ</a:t>
            </a:r>
          </a:p>
        </p:txBody>
      </p:sp>
      <p:sp>
        <p:nvSpPr>
          <p:cNvPr id="27" name="Oval 26"/>
          <p:cNvSpPr/>
          <p:nvPr/>
        </p:nvSpPr>
        <p:spPr>
          <a:xfrm>
            <a:off x="10863072" y="4690872"/>
            <a:ext cx="68580" cy="68580"/>
          </a:xfrm>
          <a:prstGeom prst="ellipse">
            <a:avLst/>
          </a:prstGeom>
          <a:solidFill>
            <a:srgbClr val="14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4526280"/>
            <a:ext cx="4343400" cy="457200"/>
          </a:xfrm>
          <a:prstGeom prst="rect">
            <a:avLst/>
          </a:prstGeom>
          <a:noFill/>
        </p:spPr>
        <p:txBody>
          <a:bodyPr wrap="square" lIns="73152" tIns="36576" rIns="73152" bIns="36576" anchor="ctr">
            <a:spAutoFit/>
          </a:bodyPr>
          <a:lstStyle/>
          <a:p>
            <a:pPr algn="r"/>
            <a:r>
              <a:rPr sz="1200" b="0">
                <a:solidFill>
                  <a:srgbClr val="293945"/>
                </a:solidFill>
                <a:latin typeface="Aptos"/>
              </a:rPr>
              <a:t>.ﺔﻴﻠﻌﻔﻟﺍ ﻢﻴﻘﻟﺍ ﺭﻮﻬﻇ ﺪﻌﺑ ﺎﻘﻘﺤﺗ ﺝﺎﺘﺤﺗﻭ ﺔﻴﺒﻳﺮﺠﺗ ﺕﺍﺆﺒﻨﺘﻟﺍ</a:t>
            </a:r>
          </a:p>
        </p:txBody>
      </p:sp>
      <p:sp>
        <p:nvSpPr>
          <p:cNvPr id="29" name="TextBox 28"/>
          <p:cNvSpPr txBox="1"/>
          <p:nvPr/>
        </p:nvSpPr>
        <p:spPr>
          <a:xfrm>
            <a:off x="960120" y="5623560"/>
            <a:ext cx="10241280" cy="438912"/>
          </a:xfrm>
          <a:prstGeom prst="rect">
            <a:avLst/>
          </a:prstGeom>
          <a:noFill/>
        </p:spPr>
        <p:txBody>
          <a:bodyPr wrap="square" lIns="73152" tIns="36576" rIns="73152" bIns="36576" anchor="ctr">
            <a:spAutoFit/>
          </a:bodyPr>
          <a:lstStyle/>
          <a:p>
            <a:pPr algn="r"/>
            <a:r>
              <a:rPr sz="1500" b="1">
                <a:solidFill>
                  <a:srgbClr val="147E8B"/>
                </a:solidFill>
                <a:latin typeface="Aptos"/>
              </a:rPr>
              <a:t>.ﺔﺠﻴﺘﻨﻟﺍ ﺐﺒﺳ ﻱﺬﻟﺍ ﺎﻣ ﺽﺍﺮﺘﻓﻻ ﻻ ،ﺮﺒﺘﺨﻧ ﻦﻳﺃ ﺪﻳﺪﺤﺘﻟ ﻞﻴﻠﺤﺘﻟﺍ ﻡﺪﺨﺘﺳﺍ :ﺔﺻﻼﺨﻟﺍ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2020</Words>
  <Application>Microsoft Office PowerPoint</Application>
  <PresentationFormat>Widescreen</PresentationFormat>
  <Paragraphs>197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Rawan Msallam</cp:lastModifiedBy>
  <cp:revision>2</cp:revision>
  <dcterms:created xsi:type="dcterms:W3CDTF">2013-01-27T09:14:16Z</dcterms:created>
  <dcterms:modified xsi:type="dcterms:W3CDTF">2026-10-25T23:02:10Z</dcterms:modified>
  <cp:category/>
</cp:coreProperties>
</file>